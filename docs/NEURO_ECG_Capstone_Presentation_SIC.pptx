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các Thầy trong Hội đồng Giảng viên Samsung Innovation Campus và ĐH Bách Khoa Hà Nội, hôm nay nhóm chúng em xin được trình bày báo cáo Capstone Project: Hệ thống giám sát ECG thời gian thực tích hợp Explainable AI...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thuyết trình của nhóm em được tổ chức chặt chẽ theo đúng 5 Unit trong biểu mẫu của Samsung SIC: từ Đặt vấn đề, Triển khai kỹ thuật, Kết quả thực nghiệm &amp; Live Demo, Đánh giá tác động &amp; giới hạn, đến Tự đánh giá và Kết luận.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Rối loạn nhịp tim là nguyên nhân hàng đầu gây đột tử, nhưng AI hiện nay vấp phải 2 rào cản lớn: tính hộp đen và thiếu hệ thống tích hợp chuẩn y tế. Dự án của chúng em giải quyết trọn vẹn cả hai rào cản này.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NEURO-ECG được thiết kế trên 5 trụ cột khép kín từ tầng tín hiệu thô, mô hình AI đa dạng, giải thích trực quan Grad-CAM, tối ưu lượng tử hóa nhúng đến hệ thống web Full-Stack chuẩn y tế.</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phân vai rành mạch: Nam Hải phụ trách AI và Full-stack; Hải Yến phụ trách Dữ liệu, DSP và kiểm định y tế. Tiến độ WBS qua 6 Checkpoint đều đã hoàn thành 100% đúng hạn.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hệ thống được thiết kế theo 5 tầng vi mô: toàn bộ thời gian từ lúc mẫu tín hiệu phát ra đến khi kết quả suy luận AI hiển thị lên màn hình bác sĩ chỉ mất dưới 5 mili-giây.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bài học giá trị của nhóm là sửa lỗi rò rỉ dữ liệu: khi tách Validation trước SMOTE, Val và Test chỉ lệch nhau 0.11%, chứng minh mô hình không overfit. Thuật toán Pan-Tompkins tự cài đặt đạt F1 97.14%.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đã tự cài đặt và benchmark độc lập cả 5 kiến trúc hiện đại nhất. ResNet-1D chiến thắng toàn diện cả về Macro-F1 (91.70%) lẫn độ trễ siêu thấp (0.13ms), hoàn hảo cho hệ thống thời gian thực.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Thuật toán 1D Grad-CAM giúp bác sĩ hiểu rõ căn cứ chẩn đoán: khi phát hiện ngoại tâm thu thất, vùng nhiệt đỏ rực tập trung đúng vào phức bộ QRS giãn rộng, hoàn toàn trùng khớp với chuyên môn đọc điện tim của bác sĩ.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Edge AI của dự án đã hoàn thành trọn vẹn: ONNX INT8 nén kích thước xuống 697.3 KB (giảm 74.5% dung lượng) mà độ chính xác chỉ suy giảm 0.67 điểm %. Mô hình hoàn toàn sẵn sàng nhúng vào thiết bị đeo thông minh.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Trên tập kiểm thử 21,892 nhịp, mô hình đạt độ nhạy trên 96% ở lớp ngoại tâm thu thất. Khi chạy end-to-end trên tín hiệu thô của PhysioNet, độ chính xác vẫn duy trì trên 94%, khẳng định tính khả thi cao trong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backend được xây dựng chuẩn mực với FastAPI xử lý bất đồng bộ, stream 360Hz hai kênh song song. Cơ sở dữ liệu phân quyền 3 vai trò chặt chẽ và bảo mật bằng JWT HttpOnly Cookie.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y tế, tính năng Audit Trail và việc tuân thủ chuẩn an toàn báo động IEC 60601-1-8 là bắt buộc. Hệ thống của nhóm em được thiết kế chuẩn mực theo tư duy của một thiết bị y tế thực thụ.</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Chất lượng phần mềm được kiểm chứng bằng 42 bài test tự động. Sau đây nhóm em xin phép chuyển sang màn hình trình duyệt để thực hiện trực tiếp 5 pha Live Demo trên hệ thống localhost:5173...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Dự án mang lại tác động thực tiễn rõ rệt: Vừa là công cụ trợ lực hiệu quả cho bác sĩ tại phòng cấp cứu, vừa mở ra hướng phát triển các thiết bị đeo Holter thông minh tự chẩn đoán tại chỗ với chi phí rẻ.</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không né tránh khuyết điểm: Khi kiểm nghiệm trên các bộ dữ liệu ngoại vi, lớp hiếm S và F bị tụt độ nhạy do khác biệt góc đo điện tim. Nhóm đã thử nghiệm fine-tune thành công lên 93.18% và xác định giải pháp triệt để là huấn luyện đa nguồn.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 đồ án Capstone này, cả hai thành viên trong nhóm đều thu hoạch được những kinh nghiệm công nghệ thực chiến quý giá. Nhóm đã vạch sẵn lộ trình 3 giai đoạn để tiếp tục đưa sản phẩm vào đời sống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Trên đây là toàn bộ báo cáo đồ án tốt nghiệp Capstone Project của nhóm chúng em. Chúng em xin chân thành cảm ơn các Thầy và rất mong nhận được những câu hỏi phản biện từ Hội đồng!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1097280" y="1188720"/>
            <a:ext cx="73152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371600"/>
            <a:ext cx="9601200" cy="365760"/>
          </a:xfrm>
          <a:prstGeom prst="rect">
            <a:avLst/>
          </a:prstGeom>
          <a:noFill/>
        </p:spPr>
        <p:txBody>
          <a:bodyPr wrap="none">
            <a:spAutoFit/>
          </a:bodyPr>
          <a:lstStyle/>
          <a:p>
            <a:pPr>
              <a:defRPr sz="1150" b="1">
                <a:solidFill>
                  <a:srgbClr val="93C5FD"/>
                </a:solidFill>
                <a:latin typeface="Arial"/>
              </a:defRPr>
            </a:pPr>
            <a:r>
              <a:t>SAMSUNG INNOVATION CAMPUS (SIC) 2026 — ĐẠI HỌC BÁCH KHOA HÀ NỘI</a:t>
            </a:r>
          </a:p>
        </p:txBody>
      </p:sp>
      <p:sp>
        <p:nvSpPr>
          <p:cNvPr id="4" name="TextBox 3"/>
          <p:cNvSpPr txBox="1"/>
          <p:nvPr/>
        </p:nvSpPr>
        <p:spPr>
          <a:xfrm>
            <a:off x="1097280" y="1828800"/>
            <a:ext cx="10058400" cy="1828800"/>
          </a:xfrm>
          <a:prstGeom prst="rect">
            <a:avLst/>
          </a:prstGeom>
          <a:noFill/>
        </p:spPr>
        <p:txBody>
          <a:bodyPr wrap="square">
            <a:spAutoFit/>
          </a:bodyPr>
          <a:lstStyle/>
          <a:p>
            <a:pPr>
              <a:defRPr sz="2500" b="1">
                <a:solidFill>
                  <a:srgbClr val="FFFFFF"/>
                </a:solidFill>
                <a:latin typeface="Arial"/>
              </a:defRPr>
            </a:pPr>
            <a:r>
              <a:t>HỆ THỐNG GIÁM SÁT ECG THỜI GIAN THỰC TÍCH HỢP TRÍ TUỆ NHÂN TẠO GIẢI THÍCH ĐƯỢC VÀ HỖ TRỢ CHẨN ĐOÁN RỐI LOẠN NHỊP TIM ĐA TẦNG</a:t>
            </a:r>
          </a:p>
          <a:p>
            <a:pPr>
              <a:spcBef>
                <a:spcPts val="800"/>
              </a:spcBef>
              <a:defRPr sz="1400" i="1">
                <a:solidFill>
                  <a:srgbClr val="CBD5E1"/>
                </a:solidFill>
                <a:latin typeface="Arial"/>
              </a:defRPr>
            </a:pPr>
            <a:r>
              <a:t>Project: NEURO-ECG  |  Team: NEURO-ECG Team</a:t>
            </a:r>
          </a:p>
        </p:txBody>
      </p:sp>
      <p:sp>
        <p:nvSpPr>
          <p:cNvPr id="5" name="Rounded Rectangle 4"/>
          <p:cNvSpPr/>
          <p:nvPr/>
        </p:nvSpPr>
        <p:spPr>
          <a:xfrm>
            <a:off x="1097280" y="4389120"/>
            <a:ext cx="9966960" cy="164592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572000"/>
            <a:ext cx="9418320" cy="1280160"/>
          </a:xfrm>
          <a:prstGeom prst="rect">
            <a:avLst/>
          </a:prstGeom>
          <a:noFill/>
        </p:spPr>
        <p:txBody>
          <a:bodyPr wrap="none">
            <a:spAutoFit/>
          </a:bodyPr>
          <a:lstStyle/>
          <a:p>
            <a:pPr>
              <a:defRPr b="1" sz="1200">
                <a:solidFill>
                  <a:srgbClr val="FFFFFF"/>
                </a:solidFill>
              </a:defRPr>
            </a:pPr>
            <a:r>
              <a:t>Team Leader: Nguyễn Đào Nam Hải (AI Architecture &amp; Full-Stack)  |  Member: Phan Thị Hải Yến (Data &amp; DSP)</a:t>
            </a:r>
          </a:p>
          <a:p>
            <a:pPr>
              <a:spcBef>
                <a:spcPts val="400"/>
              </a:spcBef>
              <a:defRPr sz="1100">
                <a:solidFill>
                  <a:srgbClr val="94A3B8"/>
                </a:solidFill>
              </a:defRPr>
            </a:pPr>
            <a:r>
              <a:t>Hội đồng hướng dẫn: Ban Giảng viên Samsung Innovation Campus (SIC) - HUST 2026</a:t>
            </a:r>
          </a:p>
          <a:p>
            <a:pPr>
              <a:spcBef>
                <a:spcPts val="400"/>
              </a:spcBef>
              <a:defRPr sz="1050">
                <a:solidFill>
                  <a:srgbClr val="10B981"/>
                </a:solidFill>
              </a:defRPr>
            </a:pPr>
            <a:r>
              <a:t>GitHub: https://github.com/NamHaiIT2HUST/ECG-Arrhythmia-Detection  |  Defense: 31/10/2026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AGENDA  |  NỘI DUNG</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TABLE OF CONTENTS Khung Báo Cáo Capstone Project 5 Unit Chuẩn Samsung SIC</a:t>
            </a:r>
          </a:p>
          <a:p>
            <a:pPr>
              <a:spcBef>
                <a:spcPts val="200"/>
              </a:spcBef>
              <a:defRPr sz="1800" b="1">
                <a:solidFill>
                  <a:srgbClr val="0F172A"/>
                </a:solidFill>
                <a:latin typeface="Arial"/>
              </a:defRPr>
            </a:pPr>
            <a:r>
              <a:t>Khung Báo Cáo Capstone Project 5 Unit Chuẩn Samsung SIC</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02 / 18</a:t>
            </a:r>
          </a:p>
        </p:txBody>
      </p:sp>
      <p:sp>
        <p:nvSpPr>
          <p:cNvPr id="8" name="Rounded Rectangle 7"/>
          <p:cNvSpPr/>
          <p:nvPr/>
        </p:nvSpPr>
        <p:spPr>
          <a:xfrm>
            <a:off x="731520"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645920"/>
            <a:ext cx="2057400" cy="10972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0240"/>
            <a:ext cx="1783080" cy="4023360"/>
          </a:xfrm>
          <a:prstGeom prst="rect">
            <a:avLst/>
          </a:prstGeom>
          <a:noFill/>
        </p:spPr>
        <p:txBody>
          <a:bodyPr wrap="square">
            <a:spAutoFit/>
          </a:bodyPr>
          <a:lstStyle/>
          <a:p>
            <a:pPr>
              <a:spcAft>
                <a:spcPts val="1200"/>
              </a:spcAft>
              <a:defRPr b="1" sz="1100">
                <a:solidFill>
                  <a:srgbClr val="1E3A8A"/>
                </a:solidFill>
              </a:defRPr>
            </a:pPr>
            <a:r>
              <a:t>UNIT 1: INTRODUCTION</a:t>
            </a:r>
          </a:p>
          <a:p>
            <a:pPr>
              <a:spcAft>
                <a:spcPts val="600"/>
              </a:spcAft>
              <a:defRPr sz="950">
                <a:solidFill>
                  <a:srgbClr val="0F172A"/>
                </a:solidFill>
              </a:defRPr>
            </a:pPr>
            <a:r>
              <a:t>• 1.1. Background Information</a:t>
            </a:r>
          </a:p>
          <a:p>
            <a:pPr>
              <a:spcAft>
                <a:spcPts val="600"/>
              </a:spcAft>
              <a:defRPr sz="950">
                <a:solidFill>
                  <a:srgbClr val="0F172A"/>
                </a:solidFill>
              </a:defRPr>
            </a:pPr>
            <a:r>
              <a:t>• 1.2. Motivation and Objective</a:t>
            </a:r>
          </a:p>
          <a:p>
            <a:pPr>
              <a:spcAft>
                <a:spcPts val="600"/>
              </a:spcAft>
              <a:defRPr sz="950">
                <a:solidFill>
                  <a:srgbClr val="0F172A"/>
                </a:solidFill>
              </a:defRPr>
            </a:pPr>
            <a:r>
              <a:t>• 1.3. Role Assignments</a:t>
            </a:r>
          </a:p>
          <a:p>
            <a:pPr>
              <a:spcAft>
                <a:spcPts val="600"/>
              </a:spcAft>
              <a:defRPr sz="950">
                <a:solidFill>
                  <a:srgbClr val="0F172A"/>
                </a:solidFill>
              </a:defRPr>
            </a:pPr>
            <a:r>
              <a:t>• 1.4. Schedule and WBS</a:t>
            </a:r>
          </a:p>
        </p:txBody>
      </p:sp>
      <p:sp>
        <p:nvSpPr>
          <p:cNvPr id="11" name="Rounded Rectangle 10"/>
          <p:cNvSpPr/>
          <p:nvPr/>
        </p:nvSpPr>
        <p:spPr>
          <a:xfrm>
            <a:off x="2907791"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07791" y="1645920"/>
            <a:ext cx="205740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4951" y="1920240"/>
            <a:ext cx="1783080" cy="4023360"/>
          </a:xfrm>
          <a:prstGeom prst="rect">
            <a:avLst/>
          </a:prstGeom>
          <a:noFill/>
        </p:spPr>
        <p:txBody>
          <a:bodyPr wrap="square">
            <a:spAutoFit/>
          </a:bodyPr>
          <a:lstStyle/>
          <a:p>
            <a:pPr>
              <a:spcAft>
                <a:spcPts val="1200"/>
              </a:spcAft>
              <a:defRPr b="1" sz="1100">
                <a:solidFill>
                  <a:srgbClr val="2563EB"/>
                </a:solidFill>
              </a:defRPr>
            </a:pPr>
            <a:r>
              <a:t>UNIT 2: PROJECT EXECUTION</a:t>
            </a:r>
          </a:p>
          <a:p>
            <a:pPr>
              <a:spcAft>
                <a:spcPts val="600"/>
              </a:spcAft>
              <a:defRPr sz="950">
                <a:solidFill>
                  <a:srgbClr val="0F172A"/>
                </a:solidFill>
              </a:defRPr>
            </a:pPr>
            <a:r>
              <a:t>• 2.1. System Architecture</a:t>
            </a:r>
          </a:p>
          <a:p>
            <a:pPr>
              <a:spcAft>
                <a:spcPts val="600"/>
              </a:spcAft>
              <a:defRPr sz="950">
                <a:solidFill>
                  <a:srgbClr val="0F172A"/>
                </a:solidFill>
              </a:defRPr>
            </a:pPr>
            <a:r>
              <a:t>• 2.2. Data &amp; DSP Pipeline</a:t>
            </a:r>
          </a:p>
          <a:p>
            <a:pPr>
              <a:spcAft>
                <a:spcPts val="600"/>
              </a:spcAft>
              <a:defRPr sz="950">
                <a:solidFill>
                  <a:srgbClr val="0F172A"/>
                </a:solidFill>
              </a:defRPr>
            </a:pPr>
            <a:r>
              <a:t>• 2.3. AI Core Benchmark</a:t>
            </a:r>
          </a:p>
          <a:p>
            <a:pPr>
              <a:spcAft>
                <a:spcPts val="600"/>
              </a:spcAft>
              <a:defRPr sz="950">
                <a:solidFill>
                  <a:srgbClr val="0F172A"/>
                </a:solidFill>
              </a:defRPr>
            </a:pPr>
            <a:r>
              <a:t>• 2.4. Explainable AI &amp; Edge AI</a:t>
            </a:r>
          </a:p>
        </p:txBody>
      </p:sp>
      <p:sp>
        <p:nvSpPr>
          <p:cNvPr id="14" name="Rounded Rectangle 13"/>
          <p:cNvSpPr/>
          <p:nvPr/>
        </p:nvSpPr>
        <p:spPr>
          <a:xfrm>
            <a:off x="5084064"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84064" y="1645920"/>
            <a:ext cx="2057400" cy="10972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21224" y="1920240"/>
            <a:ext cx="1783080" cy="4023360"/>
          </a:xfrm>
          <a:prstGeom prst="rect">
            <a:avLst/>
          </a:prstGeom>
          <a:noFill/>
        </p:spPr>
        <p:txBody>
          <a:bodyPr wrap="square">
            <a:spAutoFit/>
          </a:bodyPr>
          <a:lstStyle/>
          <a:p>
            <a:pPr>
              <a:spcAft>
                <a:spcPts val="1200"/>
              </a:spcAft>
              <a:defRPr b="1" sz="1100">
                <a:solidFill>
                  <a:srgbClr val="10B981"/>
                </a:solidFill>
              </a:defRPr>
            </a:pPr>
            <a:r>
              <a:t>UNIT 3: RESULTS &amp; DEMO</a:t>
            </a:r>
          </a:p>
          <a:p>
            <a:pPr>
              <a:spcAft>
                <a:spcPts val="600"/>
              </a:spcAft>
              <a:defRPr sz="950">
                <a:solidFill>
                  <a:srgbClr val="0F172A"/>
                </a:solidFill>
              </a:defRPr>
            </a:pPr>
            <a:r>
              <a:t>• 3.1. Experimental Results</a:t>
            </a:r>
          </a:p>
          <a:p>
            <a:pPr>
              <a:spcAft>
                <a:spcPts val="600"/>
              </a:spcAft>
              <a:defRPr sz="950">
                <a:solidFill>
                  <a:srgbClr val="0F172A"/>
                </a:solidFill>
              </a:defRPr>
            </a:pPr>
            <a:r>
              <a:t>• 3.2. Full-Stack WebSocket</a:t>
            </a:r>
          </a:p>
          <a:p>
            <a:pPr>
              <a:spcAft>
                <a:spcPts val="600"/>
              </a:spcAft>
              <a:defRPr sz="950">
                <a:solidFill>
                  <a:srgbClr val="0F172A"/>
                </a:solidFill>
              </a:defRPr>
            </a:pPr>
            <a:r>
              <a:t>• 3.3. Human-in-the-Loop</a:t>
            </a:r>
          </a:p>
          <a:p>
            <a:pPr>
              <a:spcAft>
                <a:spcPts val="600"/>
              </a:spcAft>
              <a:defRPr sz="950">
                <a:solidFill>
                  <a:srgbClr val="0F172A"/>
                </a:solidFill>
              </a:defRPr>
            </a:pPr>
            <a:r>
              <a:t>• 3.4. Live Demonstration</a:t>
            </a:r>
          </a:p>
        </p:txBody>
      </p:sp>
      <p:sp>
        <p:nvSpPr>
          <p:cNvPr id="17" name="Rounded Rectangle 16"/>
          <p:cNvSpPr/>
          <p:nvPr/>
        </p:nvSpPr>
        <p:spPr>
          <a:xfrm>
            <a:off x="7260336"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60336" y="1645920"/>
            <a:ext cx="2057400" cy="10972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7496" y="1920240"/>
            <a:ext cx="1783080" cy="4023360"/>
          </a:xfrm>
          <a:prstGeom prst="rect">
            <a:avLst/>
          </a:prstGeom>
          <a:noFill/>
        </p:spPr>
        <p:txBody>
          <a:bodyPr wrap="square">
            <a:spAutoFit/>
          </a:bodyPr>
          <a:lstStyle/>
          <a:p>
            <a:pPr>
              <a:spcAft>
                <a:spcPts val="1200"/>
              </a:spcAft>
              <a:defRPr b="1" sz="1100">
                <a:solidFill>
                  <a:srgbClr val="EF4444"/>
                </a:solidFill>
              </a:defRPr>
            </a:pPr>
            <a:r>
              <a:t>UNIT 4: IMPACT &amp; LIMITS</a:t>
            </a:r>
          </a:p>
          <a:p>
            <a:pPr>
              <a:spcAft>
                <a:spcPts val="600"/>
              </a:spcAft>
              <a:defRPr sz="950">
                <a:solidFill>
                  <a:srgbClr val="0F172A"/>
                </a:solidFill>
              </a:defRPr>
            </a:pPr>
            <a:r>
              <a:t>• 4.1. Accomplishments</a:t>
            </a:r>
          </a:p>
          <a:p>
            <a:pPr>
              <a:spcAft>
                <a:spcPts val="600"/>
              </a:spcAft>
              <a:defRPr sz="950">
                <a:solidFill>
                  <a:srgbClr val="0F172A"/>
                </a:solidFill>
              </a:defRPr>
            </a:pPr>
            <a:r>
              <a:t>• 4.2. Clinical Benefits</a:t>
            </a:r>
          </a:p>
          <a:p>
            <a:pPr>
              <a:spcAft>
                <a:spcPts val="600"/>
              </a:spcAft>
              <a:defRPr sz="950">
                <a:solidFill>
                  <a:srgbClr val="0F172A"/>
                </a:solidFill>
              </a:defRPr>
            </a:pPr>
            <a:r>
              <a:t>• 4.3. Technical Limitations</a:t>
            </a:r>
          </a:p>
          <a:p>
            <a:pPr>
              <a:spcAft>
                <a:spcPts val="600"/>
              </a:spcAft>
              <a:defRPr sz="950">
                <a:solidFill>
                  <a:srgbClr val="0F172A"/>
                </a:solidFill>
              </a:defRPr>
            </a:pPr>
            <a:r>
              <a:t>• 4.4. Domain Shift Analysis</a:t>
            </a:r>
          </a:p>
        </p:txBody>
      </p:sp>
      <p:sp>
        <p:nvSpPr>
          <p:cNvPr id="20" name="Rounded Rectangle 19"/>
          <p:cNvSpPr/>
          <p:nvPr/>
        </p:nvSpPr>
        <p:spPr>
          <a:xfrm>
            <a:off x="9436608"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436608" y="1645920"/>
            <a:ext cx="2057400" cy="10972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73768" y="1920240"/>
            <a:ext cx="1783080" cy="4023360"/>
          </a:xfrm>
          <a:prstGeom prst="rect">
            <a:avLst/>
          </a:prstGeom>
          <a:noFill/>
        </p:spPr>
        <p:txBody>
          <a:bodyPr wrap="square">
            <a:spAutoFit/>
          </a:bodyPr>
          <a:lstStyle/>
          <a:p>
            <a:pPr>
              <a:spcAft>
                <a:spcPts val="1200"/>
              </a:spcAft>
              <a:defRPr b="1" sz="1100">
                <a:solidFill>
                  <a:srgbClr val="1E3A8A"/>
                </a:solidFill>
              </a:defRPr>
            </a:pPr>
            <a:r>
              <a:t>UNIT 5: TEAM &amp; CONCLUSION</a:t>
            </a:r>
          </a:p>
          <a:p>
            <a:pPr>
              <a:spcAft>
                <a:spcPts val="600"/>
              </a:spcAft>
              <a:defRPr sz="950">
                <a:solidFill>
                  <a:srgbClr val="0F172A"/>
                </a:solidFill>
              </a:defRPr>
            </a:pPr>
            <a:r>
              <a:t>• 5.1. Member Self-Review</a:t>
            </a:r>
          </a:p>
          <a:p>
            <a:pPr>
              <a:spcAft>
                <a:spcPts val="600"/>
              </a:spcAft>
              <a:defRPr sz="950">
                <a:solidFill>
                  <a:srgbClr val="0F172A"/>
                </a:solidFill>
              </a:defRPr>
            </a:pPr>
            <a:r>
              <a:t>• 5.2. 3-Phase Roadmap</a:t>
            </a:r>
          </a:p>
          <a:p>
            <a:pPr>
              <a:spcAft>
                <a:spcPts val="600"/>
              </a:spcAft>
              <a:defRPr sz="950">
                <a:solidFill>
                  <a:srgbClr val="0F172A"/>
                </a:solidFill>
              </a:defRPr>
            </a:pPr>
            <a:r>
              <a:t>• 5.3. Conclusion</a:t>
            </a:r>
          </a:p>
          <a:p>
            <a:pPr>
              <a:spcAft>
                <a:spcPts val="600"/>
              </a:spcAft>
              <a:defRPr sz="950">
                <a:solidFill>
                  <a:srgbClr val="0F172A"/>
                </a:solidFill>
              </a:defRPr>
            </a:pPr>
            <a:r>
              <a:t>• 5.4. Q&amp;A Defense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01  |  INTRODUCTION</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1.1 Background Information: Bối Cảnh Lâm Sàng &amp; Rào Cản AI</a:t>
            </a:r>
          </a:p>
          <a:p>
            <a:pPr>
              <a:spcBef>
                <a:spcPts val="200"/>
              </a:spcBef>
              <a:defRPr sz="1800" b="1">
                <a:solidFill>
                  <a:srgbClr val="0F172A"/>
                </a:solidFill>
                <a:latin typeface="Arial"/>
              </a:defRPr>
            </a:pPr>
            <a:r>
              <a:t>Background Information: Bối Cảnh Lâm Sàng &amp; Rào Cản AI</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03 / 18</a:t>
            </a:r>
          </a:p>
        </p:txBody>
      </p:sp>
      <p:sp>
        <p:nvSpPr>
          <p:cNvPr id="8" name="Rounded Rectangle 7"/>
          <p:cNvSpPr/>
          <p:nvPr/>
        </p:nvSpPr>
        <p:spPr>
          <a:xfrm>
            <a:off x="731520" y="1645920"/>
            <a:ext cx="512064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4754880" cy="4114800"/>
          </a:xfrm>
          <a:prstGeom prst="rect">
            <a:avLst/>
          </a:prstGeom>
          <a:noFill/>
        </p:spPr>
        <p:txBody>
          <a:bodyPr wrap="square">
            <a:spAutoFit/>
          </a:bodyPr>
          <a:lstStyle/>
          <a:p>
            <a:pPr>
              <a:spcBef>
                <a:spcPts val="600"/>
              </a:spcBef>
              <a:spcAft>
                <a:spcPts val="400"/>
              </a:spcAft>
              <a:defRPr sz="1150" b="1">
                <a:solidFill>
                  <a:srgbClr val="EF4444"/>
                </a:solidFill>
                <a:latin typeface="Arial"/>
              </a:defRPr>
            </a:pPr>
            <a:r>
              <a:t>▶ BỐI CẢNH BỆNH LÝ TIM MẠCH</a:t>
            </a:r>
          </a:p>
          <a:p>
            <a:pPr>
              <a:lnSpc>
                <a:spcPct val="120000"/>
              </a:lnSpc>
              <a:spcAft>
                <a:spcPts val="300"/>
              </a:spcAft>
            </a:pPr>
            <a:r>
              <a:rPr sz="1050" b="1">
                <a:solidFill>
                  <a:srgbClr val="0F172A"/>
                </a:solidFill>
                <a:latin typeface="Arial"/>
              </a:rPr>
              <a:t>  • Nguyên nhân tử vong hàng đầu: </a:t>
            </a:r>
            <a:r>
              <a:rPr sz="1050">
                <a:solidFill>
                  <a:srgbClr val="475569"/>
                </a:solidFill>
                <a:latin typeface="Arial"/>
              </a:rPr>
              <a:t>Rối loạn nhịp tim (Arrhythmia) chiếm tỷ lệ đột tử tim mạch cao nhất thế giới.</a:t>
            </a:r>
          </a:p>
          <a:p>
            <a:pPr>
              <a:lnSpc>
                <a:spcPct val="120000"/>
              </a:lnSpc>
              <a:spcAft>
                <a:spcPts val="300"/>
              </a:spcAft>
            </a:pPr>
            <a:r>
              <a:rPr sz="1050" b="1">
                <a:solidFill>
                  <a:srgbClr val="0F172A"/>
                </a:solidFill>
                <a:latin typeface="Arial"/>
              </a:rPr>
              <a:t>  • Nguy cơ âm thầm: </a:t>
            </a:r>
            <a:r>
              <a:rPr sz="1050">
                <a:solidFill>
                  <a:srgbClr val="475569"/>
                </a:solidFill>
                <a:latin typeface="Arial"/>
              </a:rPr>
              <a:t>Ngoại tâm thu thất (PVC) và Rung nhĩ (AFib) diễn tiến nhanh, cần giám sát 24/7.</a:t>
            </a:r>
          </a:p>
          <a:p>
            <a:pPr>
              <a:lnSpc>
                <a:spcPct val="120000"/>
              </a:lnSpc>
              <a:spcAft>
                <a:spcPts val="300"/>
              </a:spcAft>
            </a:pPr>
            <a:r>
              <a:rPr sz="1050" b="1">
                <a:solidFill>
                  <a:srgbClr val="0F172A"/>
                </a:solidFill>
                <a:latin typeface="Arial"/>
              </a:rPr>
              <a:t>  • Thách thức thực tế: </a:t>
            </a:r>
            <a:r>
              <a:rPr sz="1050">
                <a:solidFill>
                  <a:srgbClr val="475569"/>
                </a:solidFill>
                <a:latin typeface="Arial"/>
              </a:rPr>
              <a:t>Hàng triệu nhịp tim mỗi ngày trong phòng cấp cứu vượt quá năng lực đọc thủ công.</a:t>
            </a:r>
          </a:p>
        </p:txBody>
      </p:sp>
      <p:sp>
        <p:nvSpPr>
          <p:cNvPr id="10" name="Rounded Rectangle 9"/>
          <p:cNvSpPr/>
          <p:nvPr/>
        </p:nvSpPr>
        <p:spPr>
          <a:xfrm>
            <a:off x="6217920" y="1645920"/>
            <a:ext cx="521208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846320" cy="4114800"/>
          </a:xfrm>
          <a:prstGeom prst="rect">
            <a:avLst/>
          </a:prstGeom>
          <a:noFill/>
        </p:spPr>
        <p:txBody>
          <a:bodyPr wrap="square">
            <a:spAutoFit/>
          </a:bodyPr>
          <a:lstStyle/>
          <a:p>
            <a:pPr>
              <a:spcBef>
                <a:spcPts val="600"/>
              </a:spcBef>
              <a:spcAft>
                <a:spcPts val="400"/>
              </a:spcAft>
              <a:defRPr sz="1150" b="1">
                <a:solidFill>
                  <a:srgbClr val="1E3A8A"/>
                </a:solidFill>
                <a:latin typeface="Arial"/>
              </a:defRPr>
            </a:pPr>
            <a:r>
              <a:t>▶ 2 RÀO CẢN CỐT TỬ CỦA AI TRONG Y TẾ</a:t>
            </a:r>
          </a:p>
          <a:p>
            <a:pPr>
              <a:lnSpc>
                <a:spcPct val="120000"/>
              </a:lnSpc>
              <a:spcAft>
                <a:spcPts val="300"/>
              </a:spcAft>
            </a:pPr>
            <a:r>
              <a:rPr sz="1050" b="1">
                <a:solidFill>
                  <a:srgbClr val="0F172A"/>
                </a:solidFill>
                <a:latin typeface="Arial"/>
              </a:rPr>
              <a:t>  • Rào cản 1 (Hộp đen - Black-Box): </a:t>
            </a:r>
            <a:r>
              <a:rPr sz="1050">
                <a:solidFill>
                  <a:srgbClr val="475569"/>
                </a:solidFill>
                <a:latin typeface="Arial"/>
              </a:rPr>
              <a:t>AI chỉ báo nhãn mà không giải thích căn cứ bệnh học $_x000D_ightarrow$ Bác sĩ không dám tin dùng.</a:t>
            </a:r>
          </a:p>
          <a:p>
            <a:pPr>
              <a:lnSpc>
                <a:spcPct val="120000"/>
              </a:lnSpc>
              <a:spcAft>
                <a:spcPts val="300"/>
              </a:spcAft>
            </a:pPr>
            <a:r>
              <a:rPr sz="1050" b="1">
                <a:solidFill>
                  <a:srgbClr val="0F172A"/>
                </a:solidFill>
                <a:latin typeface="Arial"/>
              </a:rPr>
              <a:t>  • Rào cản 2 (Thiếu chuỗi tích hợp chuẩn): </a:t>
            </a:r>
            <a:r>
              <a:rPr sz="1050">
                <a:solidFill>
                  <a:srgbClr val="475569"/>
                </a:solidFill>
                <a:latin typeface="Arial"/>
              </a:rPr>
              <a:t>Nhiều mô hình dừng ở Colab rời rạc; thiếu lọc DSP, thiếu WebSocket 360Hz và thiếu truy vết pháp lý.</a:t>
            </a:r>
          </a:p>
          <a:p>
            <a:pPr>
              <a:lnSpc>
                <a:spcPct val="120000"/>
              </a:lnSpc>
              <a:spcAft>
                <a:spcPts val="300"/>
              </a:spcAft>
            </a:pPr>
            <a:r>
              <a:rPr sz="1050" b="1">
                <a:solidFill>
                  <a:srgbClr val="0F172A"/>
                </a:solidFill>
                <a:latin typeface="Arial"/>
              </a:rPr>
              <a:t>  • Giải pháp NEURO-ECG: </a:t>
            </a:r>
            <a:r>
              <a:rPr sz="1050">
                <a:solidFill>
                  <a:srgbClr val="475569"/>
                </a:solidFill>
                <a:latin typeface="Arial"/>
              </a:rPr>
              <a:t>Explainable AI (1D Grad-CAM) minh bạch hóa quyết định + Human-in-the-loop lưu vết y tế.</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01  |  INTRODUCTION</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1.2 Motivation &amp; Objective: 5 Trụ Cột Sản Phẩm NEURO-ECG</a:t>
            </a:r>
          </a:p>
          <a:p>
            <a:pPr>
              <a:spcBef>
                <a:spcPts val="200"/>
              </a:spcBef>
              <a:defRPr sz="1800" b="1">
                <a:solidFill>
                  <a:srgbClr val="0F172A"/>
                </a:solidFill>
                <a:latin typeface="Arial"/>
              </a:defRPr>
            </a:pPr>
            <a:r>
              <a:t>Motivation &amp; Objective: 5 Trụ Cột Sản Phẩm NEURO-ECG</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04 / 18</a:t>
            </a:r>
          </a:p>
        </p:txBody>
      </p:sp>
      <p:sp>
        <p:nvSpPr>
          <p:cNvPr id="8" name="Rounded Rectangle 7"/>
          <p:cNvSpPr/>
          <p:nvPr/>
        </p:nvSpPr>
        <p:spPr>
          <a:xfrm>
            <a:off x="731520"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645920"/>
            <a:ext cx="2057400" cy="10972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0240"/>
            <a:ext cx="1783080" cy="4023360"/>
          </a:xfrm>
          <a:prstGeom prst="rect">
            <a:avLst/>
          </a:prstGeom>
          <a:noFill/>
        </p:spPr>
        <p:txBody>
          <a:bodyPr wrap="square">
            <a:spAutoFit/>
          </a:bodyPr>
          <a:lstStyle/>
          <a:p>
            <a:pPr>
              <a:spcAft>
                <a:spcPts val="1200"/>
              </a:spcAft>
              <a:defRPr b="1" sz="1100">
                <a:solidFill>
                  <a:srgbClr val="1E3A8A"/>
                </a:solidFill>
              </a:defRPr>
            </a:pPr>
            <a:r>
              <a:t>AI CORE ĐA MÔ HÌNH</a:t>
            </a:r>
          </a:p>
          <a:p>
            <a:pPr>
              <a:lnSpc>
                <a:spcPct val="130000"/>
              </a:lnSpc>
              <a:defRPr sz="950">
                <a:solidFill>
                  <a:srgbClr val="0F172A"/>
                </a:solidFill>
              </a:defRPr>
            </a:pPr>
            <a:r>
              <a:t>Benchmark 5 kiến trúc 1D</a:t>
            </a:r>
            <a:br/>
            <a:r>
              <a:t>ResNet-1D đạt Acc 98.57%</a:t>
            </a:r>
            <a:br/>
            <a:r>
              <a:t>F1-Macro 91.70%, 0.13ms</a:t>
            </a:r>
          </a:p>
        </p:txBody>
      </p:sp>
      <p:sp>
        <p:nvSpPr>
          <p:cNvPr id="11" name="Rounded Rectangle 10"/>
          <p:cNvSpPr/>
          <p:nvPr/>
        </p:nvSpPr>
        <p:spPr>
          <a:xfrm>
            <a:off x="2907791"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07791" y="1645920"/>
            <a:ext cx="205740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4951" y="1920240"/>
            <a:ext cx="1783080" cy="4023360"/>
          </a:xfrm>
          <a:prstGeom prst="rect">
            <a:avLst/>
          </a:prstGeom>
          <a:noFill/>
        </p:spPr>
        <p:txBody>
          <a:bodyPr wrap="square">
            <a:spAutoFit/>
          </a:bodyPr>
          <a:lstStyle/>
          <a:p>
            <a:pPr>
              <a:spcAft>
                <a:spcPts val="1200"/>
              </a:spcAft>
              <a:defRPr b="1" sz="1100">
                <a:solidFill>
                  <a:srgbClr val="2563EB"/>
                </a:solidFill>
              </a:defRPr>
            </a:pPr>
            <a:r>
              <a:t>EXPLAINABLE AI</a:t>
            </a:r>
          </a:p>
          <a:p>
            <a:pPr>
              <a:lnSpc>
                <a:spcPct val="130000"/>
              </a:lnSpc>
              <a:defRPr sz="950">
                <a:solidFill>
                  <a:srgbClr val="0F172A"/>
                </a:solidFill>
              </a:defRPr>
            </a:pPr>
            <a:r>
              <a:t>1D Grad-CAM trích xuất bản đồ nhiệt chú ý tại sóng P, QRS, T cho bác sĩ</a:t>
            </a:r>
          </a:p>
        </p:txBody>
      </p:sp>
      <p:sp>
        <p:nvSpPr>
          <p:cNvPr id="14" name="Rounded Rectangle 13"/>
          <p:cNvSpPr/>
          <p:nvPr/>
        </p:nvSpPr>
        <p:spPr>
          <a:xfrm>
            <a:off x="5084064"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84064" y="1645920"/>
            <a:ext cx="2057400" cy="10972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21224" y="1920240"/>
            <a:ext cx="1783080" cy="4023360"/>
          </a:xfrm>
          <a:prstGeom prst="rect">
            <a:avLst/>
          </a:prstGeom>
          <a:noFill/>
        </p:spPr>
        <p:txBody>
          <a:bodyPr wrap="square">
            <a:spAutoFit/>
          </a:bodyPr>
          <a:lstStyle/>
          <a:p>
            <a:pPr>
              <a:spcAft>
                <a:spcPts val="1200"/>
              </a:spcAft>
              <a:defRPr b="1" sz="1100">
                <a:solidFill>
                  <a:srgbClr val="10B981"/>
                </a:solidFill>
              </a:defRPr>
            </a:pPr>
            <a:r>
              <a:t>Y SINH &amp; DSP</a:t>
            </a:r>
          </a:p>
          <a:p>
            <a:pPr>
              <a:lnSpc>
                <a:spcPct val="130000"/>
              </a:lnSpc>
              <a:defRPr sz="950">
                <a:solidFill>
                  <a:srgbClr val="0F172A"/>
                </a:solidFill>
              </a:defRPr>
            </a:pPr>
            <a:r>
              <a:t>Lọc Butterworth + Notch 50Hz</a:t>
            </a:r>
            <a:br/>
            <a:r>
              <a:t>Pan-Tompkins QRS F1=97.14%</a:t>
            </a:r>
            <a:br/>
            <a:r>
              <a:t>Sàng lọc Rung nhĩ (AFib)</a:t>
            </a:r>
          </a:p>
        </p:txBody>
      </p:sp>
      <p:sp>
        <p:nvSpPr>
          <p:cNvPr id="17" name="Rounded Rectangle 16"/>
          <p:cNvSpPr/>
          <p:nvPr/>
        </p:nvSpPr>
        <p:spPr>
          <a:xfrm>
            <a:off x="7260336"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60336" y="1645920"/>
            <a:ext cx="2057400" cy="10972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7496" y="1920240"/>
            <a:ext cx="1783080" cy="4023360"/>
          </a:xfrm>
          <a:prstGeom prst="rect">
            <a:avLst/>
          </a:prstGeom>
          <a:noFill/>
        </p:spPr>
        <p:txBody>
          <a:bodyPr wrap="square">
            <a:spAutoFit/>
          </a:bodyPr>
          <a:lstStyle/>
          <a:p>
            <a:pPr>
              <a:spcAft>
                <a:spcPts val="1200"/>
              </a:spcAft>
              <a:defRPr b="1" sz="1100">
                <a:solidFill>
                  <a:srgbClr val="1E3A8A"/>
                </a:solidFill>
              </a:defRPr>
            </a:pPr>
            <a:r>
              <a:t>TỐI ƯU EDGE AI</a:t>
            </a:r>
          </a:p>
          <a:p>
            <a:pPr>
              <a:lnSpc>
                <a:spcPct val="130000"/>
              </a:lnSpc>
              <a:defRPr sz="950">
                <a:solidFill>
                  <a:srgbClr val="0F172A"/>
                </a:solidFill>
              </a:defRPr>
            </a:pPr>
            <a:r>
              <a:t>ONNX INT8 nén 697.3 KB</a:t>
            </a:r>
            <a:br/>
            <a:r>
              <a:t>(Đạt chuẩn &lt; 700 KB nhúng)</a:t>
            </a:r>
            <a:br/>
            <a:r>
              <a:t>ONNX FP32 nhanh gấp 4 lần</a:t>
            </a:r>
          </a:p>
        </p:txBody>
      </p:sp>
      <p:sp>
        <p:nvSpPr>
          <p:cNvPr id="20" name="Rounded Rectangle 19"/>
          <p:cNvSpPr/>
          <p:nvPr/>
        </p:nvSpPr>
        <p:spPr>
          <a:xfrm>
            <a:off x="9436608" y="1645920"/>
            <a:ext cx="2057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436608" y="1645920"/>
            <a:ext cx="205740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73768" y="1920240"/>
            <a:ext cx="1783080" cy="4023360"/>
          </a:xfrm>
          <a:prstGeom prst="rect">
            <a:avLst/>
          </a:prstGeom>
          <a:noFill/>
        </p:spPr>
        <p:txBody>
          <a:bodyPr wrap="square">
            <a:spAutoFit/>
          </a:bodyPr>
          <a:lstStyle/>
          <a:p>
            <a:pPr>
              <a:spcAft>
                <a:spcPts val="1200"/>
              </a:spcAft>
              <a:defRPr b="1" sz="1100">
                <a:solidFill>
                  <a:srgbClr val="2563EB"/>
                </a:solidFill>
              </a:defRPr>
            </a:pPr>
            <a:r>
              <a:t>FULL-STACK Y TẾ</a:t>
            </a:r>
          </a:p>
          <a:p>
            <a:pPr>
              <a:lnSpc>
                <a:spcPct val="130000"/>
              </a:lnSpc>
              <a:defRPr sz="950">
                <a:solidFill>
                  <a:srgbClr val="0F172A"/>
                </a:solidFill>
              </a:defRPr>
            </a:pPr>
            <a:r>
              <a:t>WebSocket 360Hz 2 kênh</a:t>
            </a:r>
            <a:br/>
            <a:r>
              <a:t>React 19 Plotly 60 FPS</a:t>
            </a:r>
            <a:br/>
            <a:r>
              <a:t>RBAC 3 vai trò,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01  |  INTRODUCTION</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1.3 &amp; 1.4 Role Assignments &amp; WBS Milestones (Kế Hoạch &amp; Tiến Độ)</a:t>
            </a:r>
          </a:p>
          <a:p>
            <a:pPr>
              <a:spcBef>
                <a:spcPts val="200"/>
              </a:spcBef>
              <a:defRPr sz="1800" b="1">
                <a:solidFill>
                  <a:srgbClr val="0F172A"/>
                </a:solidFill>
                <a:latin typeface="Arial"/>
              </a:defRPr>
            </a:pPr>
            <a:r>
              <a:t>Role Assignments &amp; WBS Milestones (Kế Hoạch &amp; Tiến Độ)</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05 / 18</a:t>
            </a:r>
          </a:p>
        </p:txBody>
      </p:sp>
      <p:sp>
        <p:nvSpPr>
          <p:cNvPr id="8" name="Rounded Rectangle 7"/>
          <p:cNvSpPr/>
          <p:nvPr/>
        </p:nvSpPr>
        <p:spPr>
          <a:xfrm>
            <a:off x="731520" y="164592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83080"/>
            <a:ext cx="4754880" cy="1920240"/>
          </a:xfrm>
          <a:prstGeom prst="rect">
            <a:avLst/>
          </a:prstGeom>
          <a:noFill/>
        </p:spPr>
        <p:txBody>
          <a:bodyPr wrap="square">
            <a:spAutoFit/>
          </a:bodyPr>
          <a:lstStyle/>
          <a:p>
            <a:pPr>
              <a:spcBef>
                <a:spcPts val="600"/>
              </a:spcBef>
              <a:spcAft>
                <a:spcPts val="400"/>
              </a:spcAft>
              <a:defRPr sz="1100" b="1">
                <a:solidFill>
                  <a:srgbClr val="1E3A8A"/>
                </a:solidFill>
                <a:latin typeface="Arial"/>
              </a:defRPr>
            </a:pPr>
            <a:r>
              <a:t>▶ NGUYỄN ĐÀO NAM HẢI — Trưởng Nhóm</a:t>
            </a:r>
          </a:p>
          <a:p>
            <a:pPr>
              <a:lnSpc>
                <a:spcPct val="120000"/>
              </a:lnSpc>
              <a:spcAft>
                <a:spcPts val="300"/>
              </a:spcAft>
            </a:pPr>
            <a:r>
              <a:rPr sz="1000" b="1">
                <a:solidFill>
                  <a:srgbClr val="0F172A"/>
                </a:solidFill>
                <a:latin typeface="Arial"/>
              </a:rPr>
              <a:t>  • AI Core &amp; XAI: </a:t>
            </a:r>
            <a:r>
              <a:rPr sz="1000">
                <a:solidFill>
                  <a:srgbClr val="475569"/>
                </a:solidFill>
                <a:latin typeface="Arial"/>
              </a:rPr>
              <a:t>Benchmark 5 kiến trúc, 1D Grad-CAM, ONNX INT8.</a:t>
            </a:r>
          </a:p>
          <a:p>
            <a:pPr>
              <a:lnSpc>
                <a:spcPct val="120000"/>
              </a:lnSpc>
              <a:spcAft>
                <a:spcPts val="300"/>
              </a:spcAft>
            </a:pPr>
            <a:r>
              <a:rPr sz="1000" b="1">
                <a:solidFill>
                  <a:srgbClr val="0F172A"/>
                </a:solidFill>
                <a:latin typeface="Arial"/>
              </a:rPr>
              <a:t>  • Full-Stack: </a:t>
            </a:r>
            <a:r>
              <a:rPr sz="1000">
                <a:solidFill>
                  <a:srgbClr val="475569"/>
                </a:solidFill>
                <a:latin typeface="Arial"/>
              </a:rPr>
              <a:t>Backend FastAPI, WebSocket 360Hz, React 19 Frontend.</a:t>
            </a:r>
          </a:p>
          <a:p>
            <a:pPr>
              <a:lnSpc>
                <a:spcPct val="120000"/>
              </a:lnSpc>
              <a:spcAft>
                <a:spcPts val="300"/>
              </a:spcAft>
            </a:pPr>
            <a:r>
              <a:rPr sz="1000" b="1">
                <a:solidFill>
                  <a:srgbClr val="0F172A"/>
                </a:solidFill>
                <a:latin typeface="Arial"/>
              </a:rPr>
              <a:t>  • Hạ tầng y tế: </a:t>
            </a:r>
            <a:r>
              <a:rPr sz="1000">
                <a:solidFill>
                  <a:srgbClr val="475569"/>
                </a:solidFill>
                <a:latin typeface="Arial"/>
              </a:rPr>
              <a:t>Hệ thống báo động IEC 60601-1-8, RBAC, Docker Compose.</a:t>
            </a:r>
          </a:p>
        </p:txBody>
      </p:sp>
      <p:sp>
        <p:nvSpPr>
          <p:cNvPr id="10" name="Rounded Rectangle 9"/>
          <p:cNvSpPr/>
          <p:nvPr/>
        </p:nvSpPr>
        <p:spPr>
          <a:xfrm>
            <a:off x="62179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783080"/>
            <a:ext cx="4846320" cy="1920240"/>
          </a:xfrm>
          <a:prstGeom prst="rect">
            <a:avLst/>
          </a:prstGeom>
          <a:noFill/>
        </p:spPr>
        <p:txBody>
          <a:bodyPr wrap="square">
            <a:spAutoFit/>
          </a:bodyPr>
          <a:lstStyle/>
          <a:p>
            <a:pPr>
              <a:spcBef>
                <a:spcPts val="600"/>
              </a:spcBef>
              <a:spcAft>
                <a:spcPts val="400"/>
              </a:spcAft>
              <a:defRPr sz="1100" b="1">
                <a:solidFill>
                  <a:srgbClr val="2563EB"/>
                </a:solidFill>
                <a:latin typeface="Arial"/>
              </a:defRPr>
            </a:pPr>
            <a:r>
              <a:t>▶ PHAN THỊ HẢI YẾN — Thành Viên</a:t>
            </a:r>
          </a:p>
          <a:p>
            <a:pPr>
              <a:lnSpc>
                <a:spcPct val="120000"/>
              </a:lnSpc>
              <a:spcAft>
                <a:spcPts val="300"/>
              </a:spcAft>
            </a:pPr>
            <a:r>
              <a:rPr sz="1000" b="1">
                <a:solidFill>
                  <a:srgbClr val="0F172A"/>
                </a:solidFill>
                <a:latin typeface="Arial"/>
              </a:rPr>
              <a:t>  • Kỹ thuật dữ liệu: </a:t>
            </a:r>
            <a:r>
              <a:rPr sz="1000">
                <a:solidFill>
                  <a:srgbClr val="475569"/>
                </a:solidFill>
                <a:latin typeface="Arial"/>
              </a:rPr>
              <a:t>Kaggle CSV, PhysioNet WFDB, SMOTE, Validation Split.</a:t>
            </a:r>
          </a:p>
          <a:p>
            <a:pPr>
              <a:lnSpc>
                <a:spcPct val="120000"/>
              </a:lnSpc>
              <a:spcAft>
                <a:spcPts val="300"/>
              </a:spcAft>
            </a:pPr>
            <a:r>
              <a:rPr sz="1000" b="1">
                <a:solidFill>
                  <a:srgbClr val="0F172A"/>
                </a:solidFill>
                <a:latin typeface="Arial"/>
              </a:rPr>
              <a:t>  • Chuỗi DSP y sinh: </a:t>
            </a:r>
            <a:r>
              <a:rPr sz="1000">
                <a:solidFill>
                  <a:srgbClr val="475569"/>
                </a:solidFill>
                <a:latin typeface="Arial"/>
              </a:rPr>
              <a:t>Lọc dải thông Butterworth, Notch 50Hz, Pan-Tompkins QRS.</a:t>
            </a:r>
          </a:p>
          <a:p>
            <a:pPr>
              <a:lnSpc>
                <a:spcPct val="120000"/>
              </a:lnSpc>
              <a:spcAft>
                <a:spcPts val="300"/>
              </a:spcAft>
            </a:pPr>
            <a:r>
              <a:rPr sz="1000" b="1">
                <a:solidFill>
                  <a:srgbClr val="0F172A"/>
                </a:solidFill>
                <a:latin typeface="Arial"/>
              </a:rPr>
              <a:t>  • Thẩm định &amp; QA: </a:t>
            </a:r>
            <a:r>
              <a:rPr sz="1000">
                <a:solidFill>
                  <a:srgbClr val="475569"/>
                </a:solidFill>
                <a:latin typeface="Arial"/>
              </a:rPr>
              <a:t>Đối chiếu chuẩn y tế AAMI EC57, Kiểm thử tự động &amp; Báo cáo.</a:t>
            </a:r>
          </a:p>
        </p:txBody>
      </p:sp>
      <p:sp>
        <p:nvSpPr>
          <p:cNvPr id="12" name="Rounded Rectangle 11"/>
          <p:cNvSpPr/>
          <p:nvPr/>
        </p:nvSpPr>
        <p:spPr>
          <a:xfrm>
            <a:off x="731520" y="4023360"/>
            <a:ext cx="1069848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60520"/>
            <a:ext cx="10332720" cy="1828800"/>
          </a:xfrm>
          <a:prstGeom prst="rect">
            <a:avLst/>
          </a:prstGeom>
          <a:noFill/>
        </p:spPr>
        <p:txBody>
          <a:bodyPr wrap="square">
            <a:spAutoFit/>
          </a:bodyPr>
          <a:lstStyle/>
          <a:p>
            <a:pPr>
              <a:spcBef>
                <a:spcPts val="600"/>
              </a:spcBef>
              <a:spcAft>
                <a:spcPts val="400"/>
              </a:spcAft>
              <a:defRPr sz="1100" b="1">
                <a:solidFill>
                  <a:srgbClr val="10B981"/>
                </a:solidFill>
                <a:latin typeface="Arial"/>
              </a:defRPr>
            </a:pPr>
            <a:r>
              <a:t>▶ TIẾN ĐỘ WBS &amp; HOÀN THÀNH 6 CHECKPOINTS (100% HOÀN THÀNH)</a:t>
            </a:r>
          </a:p>
          <a:p>
            <a:pPr>
              <a:lnSpc>
                <a:spcPct val="120000"/>
              </a:lnSpc>
              <a:spcAft>
                <a:spcPts val="300"/>
              </a:spcAft>
            </a:pPr>
            <a:r>
              <a:rPr sz="1000" b="1">
                <a:solidFill>
                  <a:srgbClr val="0F172A"/>
                </a:solidFill>
                <a:latin typeface="Arial"/>
              </a:rPr>
              <a:t>  • Tuần 1–2 (CP1 - CP2): </a:t>
            </a:r>
            <a:r>
              <a:rPr sz="1000">
                <a:solidFill>
                  <a:srgbClr val="475569"/>
                </a:solidFill>
                <a:latin typeface="Arial"/>
              </a:rPr>
              <a:t>Tiền xử lý MIT-BIH, SMOTE, Benchmark 5 models, Grad-CAM, WebSocket core.</a:t>
            </a:r>
          </a:p>
          <a:p>
            <a:pPr>
              <a:lnSpc>
                <a:spcPct val="120000"/>
              </a:lnSpc>
              <a:spcAft>
                <a:spcPts val="300"/>
              </a:spcAft>
            </a:pPr>
            <a:r>
              <a:rPr sz="1000" b="1">
                <a:solidFill>
                  <a:srgbClr val="0F172A"/>
                </a:solidFill>
                <a:latin typeface="Arial"/>
              </a:rPr>
              <a:t>  • Tuần 3–4 (CP3 - CP4): </a:t>
            </a:r>
            <a:r>
              <a:rPr sz="1000">
                <a:solidFill>
                  <a:srgbClr val="475569"/>
                </a:solidFill>
                <a:latin typeface="Arial"/>
              </a:rPr>
              <a:t>DSP Pan-Tompkins (F1=97.14%), Báo động IEC 60601-1-8, Xuất PDF/CSV y tế.</a:t>
            </a:r>
          </a:p>
          <a:p>
            <a:pPr>
              <a:lnSpc>
                <a:spcPct val="120000"/>
              </a:lnSpc>
              <a:spcAft>
                <a:spcPts val="300"/>
              </a:spcAft>
            </a:pPr>
            <a:r>
              <a:rPr sz="1000" b="1">
                <a:solidFill>
                  <a:srgbClr val="0F172A"/>
                </a:solidFill>
                <a:latin typeface="Arial"/>
              </a:rPr>
              <a:t>  • Tuần 5–6 (CP5 - CP6): </a:t>
            </a:r>
            <a:r>
              <a:rPr sz="1000">
                <a:solidFill>
                  <a:srgbClr val="475569"/>
                </a:solidFill>
                <a:latin typeface="Arial"/>
              </a:rPr>
              <a:t>Database RBAC 3 vai trò, Human-in-the-loop Audit Trail, ONNX INT8, Test suite 42/42.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02  |  PROJECT EXECUTION</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2.1 System Architecture: Luồng Dữ Liệu 5 Tầng Thời Gian Thực</a:t>
            </a:r>
          </a:p>
          <a:p>
            <a:pPr>
              <a:spcBef>
                <a:spcPts val="200"/>
              </a:spcBef>
              <a:defRPr sz="1800" b="1">
                <a:solidFill>
                  <a:srgbClr val="0F172A"/>
                </a:solidFill>
                <a:latin typeface="Arial"/>
              </a:defRPr>
            </a:pPr>
            <a:r>
              <a:t>System Architecture: Luồng Dữ Liệu 5 Tầng Thời Gian Thực</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06 / 18</a:t>
            </a:r>
          </a:p>
        </p:txBody>
      </p:sp>
      <p:sp>
        <p:nvSpPr>
          <p:cNvPr id="8" name="Rounded Rectangle 7"/>
          <p:cNvSpPr/>
          <p:nvPr/>
        </p:nvSpPr>
        <p:spPr>
          <a:xfrm>
            <a:off x="731520" y="1645920"/>
            <a:ext cx="10698480" cy="80467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645920"/>
            <a:ext cx="137160" cy="8046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719072"/>
            <a:ext cx="10241280" cy="658368"/>
          </a:xfrm>
          <a:prstGeom prst="rect">
            <a:avLst/>
          </a:prstGeom>
          <a:noFill/>
        </p:spPr>
        <p:txBody>
          <a:bodyPr wrap="square">
            <a:spAutoFit/>
          </a:bodyPr>
          <a:lstStyle/>
          <a:p>
            <a:pPr>
              <a:defRPr b="1" sz="1050">
                <a:solidFill>
                  <a:srgbClr val="1E3A8A"/>
                </a:solidFill>
              </a:defRPr>
            </a:pPr>
            <a:r>
              <a:t>TẦNG 1: INGESTION (360Hz)</a:t>
            </a:r>
          </a:p>
          <a:p>
            <a:pPr>
              <a:spcBef>
                <a:spcPts val="200"/>
              </a:spcBef>
              <a:defRPr sz="950">
                <a:solidFill>
                  <a:srgbClr val="0F172A"/>
                </a:solidFill>
              </a:defRPr>
            </a:pPr>
            <a:r>
              <a:t>Đọc dữ liệu thô 2 kênh (MLII + V1)  |  Đóng gói 36 gói tin/giây (10 mẫu/gói)  |  Phát luồng qua WebSocket</a:t>
            </a:r>
          </a:p>
        </p:txBody>
      </p:sp>
      <p:sp>
        <p:nvSpPr>
          <p:cNvPr id="11" name="Rounded Rectangle 10"/>
          <p:cNvSpPr/>
          <p:nvPr/>
        </p:nvSpPr>
        <p:spPr>
          <a:xfrm>
            <a:off x="731520" y="2542032"/>
            <a:ext cx="10698480" cy="80467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542032"/>
            <a:ext cx="137160"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615184"/>
            <a:ext cx="10241280" cy="658368"/>
          </a:xfrm>
          <a:prstGeom prst="rect">
            <a:avLst/>
          </a:prstGeom>
          <a:noFill/>
        </p:spPr>
        <p:txBody>
          <a:bodyPr wrap="square">
            <a:spAutoFit/>
          </a:bodyPr>
          <a:lstStyle/>
          <a:p>
            <a:pPr>
              <a:defRPr b="1" sz="1050">
                <a:solidFill>
                  <a:srgbClr val="2563EB"/>
                </a:solidFill>
              </a:defRPr>
            </a:pPr>
            <a:r>
              <a:t>TẦNG 2: TIỀN XỬ LÝ DSP</a:t>
            </a:r>
          </a:p>
          <a:p>
            <a:pPr>
              <a:spcBef>
                <a:spcPts val="200"/>
              </a:spcBef>
              <a:defRPr sz="950">
                <a:solidFill>
                  <a:srgbClr val="0F172A"/>
                </a:solidFill>
              </a:defRPr>
            </a:pPr>
            <a:r>
              <a:t>Lọc thông dải Butterworth 0.5–45Hz  |  Lọc chắn dải Notch 50Hz (Q=30)  |  Pan-Tompkins QRS F1=97.14%</a:t>
            </a:r>
          </a:p>
        </p:txBody>
      </p:sp>
      <p:sp>
        <p:nvSpPr>
          <p:cNvPr id="14" name="Rounded Rectangle 13"/>
          <p:cNvSpPr/>
          <p:nvPr/>
        </p:nvSpPr>
        <p:spPr>
          <a:xfrm>
            <a:off x="731520" y="3438144"/>
            <a:ext cx="10698480" cy="80467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438144"/>
            <a:ext cx="137160" cy="8046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511296"/>
            <a:ext cx="10241280" cy="658368"/>
          </a:xfrm>
          <a:prstGeom prst="rect">
            <a:avLst/>
          </a:prstGeom>
          <a:noFill/>
        </p:spPr>
        <p:txBody>
          <a:bodyPr wrap="square">
            <a:spAutoFit/>
          </a:bodyPr>
          <a:lstStyle/>
          <a:p>
            <a:pPr>
              <a:defRPr b="1" sz="1050">
                <a:solidFill>
                  <a:srgbClr val="1E3A8A"/>
                </a:solidFill>
              </a:defRPr>
            </a:pPr>
            <a:r>
              <a:t>TẦNG 3: AI INFERENCE (SINGLETON)</a:t>
            </a:r>
          </a:p>
          <a:p>
            <a:pPr>
              <a:spcBef>
                <a:spcPts val="200"/>
              </a:spcBef>
              <a:defRPr sz="950">
                <a:solidFill>
                  <a:srgbClr val="0F172A"/>
                </a:solidFill>
              </a:defRPr>
            </a:pPr>
            <a:r>
              <a:t>Cắt cửa sổ 187 mẫu quanh đỉnh R  |  ResNet-1D / ONNX INT8 suy luận  |  Trả về nhãn, độ tin cậy và Grad-CAM</a:t>
            </a:r>
          </a:p>
        </p:txBody>
      </p:sp>
      <p:sp>
        <p:nvSpPr>
          <p:cNvPr id="17" name="Rounded Rectangle 16"/>
          <p:cNvSpPr/>
          <p:nvPr/>
        </p:nvSpPr>
        <p:spPr>
          <a:xfrm>
            <a:off x="731520" y="4334256"/>
            <a:ext cx="10698480" cy="80467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34256"/>
            <a:ext cx="137160" cy="80467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407408"/>
            <a:ext cx="10241280" cy="658368"/>
          </a:xfrm>
          <a:prstGeom prst="rect">
            <a:avLst/>
          </a:prstGeom>
          <a:noFill/>
        </p:spPr>
        <p:txBody>
          <a:bodyPr wrap="square">
            <a:spAutoFit/>
          </a:bodyPr>
          <a:lstStyle/>
          <a:p>
            <a:pPr>
              <a:defRPr b="1" sz="1050">
                <a:solidFill>
                  <a:srgbClr val="EF4444"/>
                </a:solidFill>
              </a:defRPr>
            </a:pPr>
            <a:r>
              <a:t>TẦNG 4: ĐIỀU PHỐI CẢNH BÁO</a:t>
            </a:r>
          </a:p>
          <a:p>
            <a:pPr>
              <a:spcBef>
                <a:spcPts val="200"/>
              </a:spcBef>
              <a:defRPr sz="950">
                <a:solidFill>
                  <a:srgbClr val="0F172A"/>
                </a:solidFill>
              </a:defRPr>
            </a:pPr>
            <a:r>
              <a:t>Phân tầng nguy cấp (Xanh/Vàng/Đỏ)  |  Chuông âm thanh &amp; Đèn chớp  |  Tắt chuông 2 phút chuẩn IEC 60601-1-8</a:t>
            </a:r>
          </a:p>
        </p:txBody>
      </p:sp>
      <p:sp>
        <p:nvSpPr>
          <p:cNvPr id="20" name="Rounded Rectangle 19"/>
          <p:cNvSpPr/>
          <p:nvPr/>
        </p:nvSpPr>
        <p:spPr>
          <a:xfrm>
            <a:off x="731520" y="5230368"/>
            <a:ext cx="10698480" cy="80467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5230368"/>
            <a:ext cx="137160" cy="8046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303520"/>
            <a:ext cx="10241280" cy="658368"/>
          </a:xfrm>
          <a:prstGeom prst="rect">
            <a:avLst/>
          </a:prstGeom>
          <a:noFill/>
        </p:spPr>
        <p:txBody>
          <a:bodyPr wrap="square">
            <a:spAutoFit/>
          </a:bodyPr>
          <a:lstStyle/>
          <a:p>
            <a:pPr>
              <a:defRPr b="1" sz="1050">
                <a:solidFill>
                  <a:srgbClr val="10B981"/>
                </a:solidFill>
              </a:defRPr>
            </a:pPr>
            <a:r>
              <a:t>TẦNG 5: GIAO DIỆN &amp; BÁC SĨ DUYỆT</a:t>
            </a:r>
          </a:p>
          <a:p>
            <a:pPr>
              <a:spcBef>
                <a:spcPts val="200"/>
              </a:spcBef>
              <a:defRPr sz="950">
                <a:solidFill>
                  <a:srgbClr val="0F172A"/>
                </a:solidFill>
              </a:defRPr>
            </a:pPr>
            <a:r>
              <a:t>React 19 đồ thị sóng 60 FPS mượt mà  |  Bác sĩ duyệt/sửa nhãn (Human-in-the-loop)  |  Lưu vết Audit Trail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02  |  PROJECT EXECUTION</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2.2 Data Processing &amp; DSP Pipeline: Khắc Phục Data Leakage</a:t>
            </a:r>
          </a:p>
          <a:p>
            <a:pPr>
              <a:spcBef>
                <a:spcPts val="200"/>
              </a:spcBef>
              <a:defRPr sz="1800" b="1">
                <a:solidFill>
                  <a:srgbClr val="0F172A"/>
                </a:solidFill>
                <a:latin typeface="Arial"/>
              </a:defRPr>
            </a:pPr>
            <a:r>
              <a:t>Data Processing &amp; DSP Pipeline: Khắc Phục Data Leakage</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07 / 18</a:t>
            </a:r>
          </a:p>
        </p:txBody>
      </p:sp>
      <p:sp>
        <p:nvSpPr>
          <p:cNvPr id="8" name="Rounded Rectangle 7"/>
          <p:cNvSpPr/>
          <p:nvPr/>
        </p:nvSpPr>
        <p:spPr>
          <a:xfrm>
            <a:off x="731520" y="1645920"/>
            <a:ext cx="5486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5120640" cy="4114800"/>
          </a:xfrm>
          <a:prstGeom prst="rect">
            <a:avLst/>
          </a:prstGeom>
          <a:noFill/>
        </p:spPr>
        <p:txBody>
          <a:bodyPr wrap="square">
            <a:spAutoFit/>
          </a:bodyPr>
          <a:lstStyle/>
          <a:p>
            <a:pPr>
              <a:spcBef>
                <a:spcPts val="600"/>
              </a:spcBef>
              <a:spcAft>
                <a:spcPts val="400"/>
              </a:spcAft>
              <a:defRPr sz="1150" b="1">
                <a:solidFill>
                  <a:srgbClr val="1E3A8A"/>
                </a:solidFill>
                <a:latin typeface="Arial"/>
              </a:defRPr>
            </a:pPr>
            <a:r>
              <a:t>▶ CHUỖI DSP &amp; PHÁT HIỆN ĐỈNH R</a:t>
            </a:r>
          </a:p>
          <a:p>
            <a:pPr>
              <a:lnSpc>
                <a:spcPct val="120000"/>
              </a:lnSpc>
              <a:spcAft>
                <a:spcPts val="300"/>
              </a:spcAft>
            </a:pPr>
            <a:r>
              <a:rPr sz="1050" b="1">
                <a:solidFill>
                  <a:srgbClr val="0F172A"/>
                </a:solidFill>
                <a:latin typeface="Arial"/>
              </a:rPr>
              <a:t>  • Lọc thông dải Butterworth 0.5–45Hz: </a:t>
            </a:r>
            <a:r>
              <a:rPr sz="1050">
                <a:solidFill>
                  <a:srgbClr val="475569"/>
                </a:solidFill>
                <a:latin typeface="Arial"/>
              </a:rPr>
              <a:t>Khử nhiễu thở và nhiễu cơ EMG.</a:t>
            </a:r>
          </a:p>
          <a:p>
            <a:pPr>
              <a:lnSpc>
                <a:spcPct val="120000"/>
              </a:lnSpc>
              <a:spcAft>
                <a:spcPts val="300"/>
              </a:spcAft>
            </a:pPr>
            <a:r>
              <a:rPr sz="1050" b="1">
                <a:solidFill>
                  <a:srgbClr val="0F172A"/>
                </a:solidFill>
                <a:latin typeface="Arial"/>
              </a:rPr>
              <a:t>  • Lọc Notch 50Hz: </a:t>
            </a:r>
            <a:r>
              <a:rPr sz="1050">
                <a:solidFill>
                  <a:srgbClr val="475569"/>
                </a:solidFill>
                <a:latin typeface="Arial"/>
              </a:rPr>
              <a:t>Triệt tiêu can nhiễu điện lưới xoay chiều.</a:t>
            </a:r>
          </a:p>
          <a:p>
            <a:pPr>
              <a:lnSpc>
                <a:spcPct val="120000"/>
              </a:lnSpc>
              <a:spcAft>
                <a:spcPts val="300"/>
              </a:spcAft>
            </a:pPr>
            <a:r>
              <a:rPr sz="1050" b="1">
                <a:solidFill>
                  <a:srgbClr val="0F172A"/>
                </a:solidFill>
                <a:latin typeface="Arial"/>
              </a:rPr>
              <a:t>  • Pan-Tompkins QRS Detection: </a:t>
            </a:r>
            <a:r>
              <a:rPr sz="1050">
                <a:solidFill>
                  <a:srgbClr val="475569"/>
                </a:solidFill>
                <a:latin typeface="Arial"/>
              </a:rPr>
              <a:t>Vi phân -&gt; Bình phương -&gt; Tích phân 150ms -&gt; Ngưỡng kép thích nghi nhịp.</a:t>
            </a:r>
          </a:p>
          <a:p>
            <a:pPr>
              <a:lnSpc>
                <a:spcPct val="120000"/>
              </a:lnSpc>
              <a:spcAft>
                <a:spcPts val="300"/>
              </a:spcAft>
            </a:pPr>
            <a:r>
              <a:rPr sz="1050" b="1">
                <a:solidFill>
                  <a:srgbClr val="0F172A"/>
                </a:solidFill>
                <a:latin typeface="Arial"/>
              </a:rPr>
              <a:t>  • Hiệu năng định lượng: </a:t>
            </a:r>
            <a:r>
              <a:rPr sz="1050">
                <a:solidFill>
                  <a:srgbClr val="475569"/>
                </a:solidFill>
                <a:latin typeface="Arial"/>
              </a:rPr>
              <a:t>F1 đạt 97.14% trên 20,546 nhịp tim thô của 8 bản ghi PhysioNet (Record 100: 99.98%, Record 200: 99.56%).</a:t>
            </a:r>
          </a:p>
        </p:txBody>
      </p:sp>
      <p:sp>
        <p:nvSpPr>
          <p:cNvPr id="10" name="Rounded Rectangle 9"/>
          <p:cNvSpPr/>
          <p:nvPr/>
        </p:nvSpPr>
        <p:spPr>
          <a:xfrm>
            <a:off x="6492240" y="1645920"/>
            <a:ext cx="4937760" cy="21945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783080"/>
            <a:ext cx="4572000" cy="1920240"/>
          </a:xfrm>
          <a:prstGeom prst="rect">
            <a:avLst/>
          </a:prstGeom>
          <a:noFill/>
        </p:spPr>
        <p:txBody>
          <a:bodyPr wrap="square">
            <a:spAutoFit/>
          </a:bodyPr>
          <a:lstStyle/>
          <a:p>
            <a:pPr>
              <a:spcBef>
                <a:spcPts val="600"/>
              </a:spcBef>
              <a:spcAft>
                <a:spcPts val="400"/>
              </a:spcAft>
              <a:defRPr sz="1100" b="1">
                <a:solidFill>
                  <a:srgbClr val="1E3A8A"/>
                </a:solidFill>
                <a:latin typeface="Arial"/>
              </a:defRPr>
            </a:pPr>
            <a:r>
              <a:t>▶ BÀI HỌC KỸ THUẬT: SỬA LỖI DATA LEAKAGE</a:t>
            </a:r>
          </a:p>
          <a:p>
            <a:pPr>
              <a:lnSpc>
                <a:spcPct val="120000"/>
              </a:lnSpc>
              <a:spcAft>
                <a:spcPts val="300"/>
              </a:spcAft>
            </a:pPr>
            <a:r>
              <a:rPr sz="1000" b="1">
                <a:solidFill>
                  <a:srgbClr val="0F172A"/>
                </a:solidFill>
                <a:latin typeface="Arial"/>
              </a:rPr>
              <a:t>  • Lỗi ban đầu: </a:t>
            </a:r>
            <a:r>
              <a:rPr sz="1000">
                <a:solidFill>
                  <a:srgbClr val="475569"/>
                </a:solidFill>
                <a:latin typeface="Arial"/>
              </a:rPr>
              <a:t>Tách Validation sau SMOTE khiến Val Accuracy đạt 99.78% (ảo do mẫu láng giềng).</a:t>
            </a:r>
          </a:p>
          <a:p>
            <a:pPr>
              <a:lnSpc>
                <a:spcPct val="120000"/>
              </a:lnSpc>
              <a:spcAft>
                <a:spcPts val="300"/>
              </a:spcAft>
            </a:pPr>
            <a:r>
              <a:rPr sz="1000" b="1">
                <a:solidFill>
                  <a:srgbClr val="0F172A"/>
                </a:solidFill>
                <a:latin typeface="Arial"/>
              </a:rPr>
              <a:t>  • Giải pháp triệt để: </a:t>
            </a:r>
            <a:r>
              <a:rPr sz="1000">
                <a:solidFill>
                  <a:srgbClr val="475569"/>
                </a:solidFill>
                <a:latin typeface="Arial"/>
              </a:rPr>
              <a:t>Tách Stratified Validation (10%) TRƯỚC KHI SMOTE.</a:t>
            </a:r>
          </a:p>
          <a:p>
            <a:pPr>
              <a:lnSpc>
                <a:spcPct val="120000"/>
              </a:lnSpc>
              <a:spcAft>
                <a:spcPts val="300"/>
              </a:spcAft>
            </a:pPr>
            <a:r>
              <a:rPr sz="1000" b="1">
                <a:solidFill>
                  <a:srgbClr val="0F172A"/>
                </a:solidFill>
                <a:latin typeface="Arial"/>
              </a:rPr>
              <a:t>  • Kết quả thực chất: </a:t>
            </a:r>
            <a:r>
              <a:rPr sz="1000">
                <a:solidFill>
                  <a:srgbClr val="475569"/>
                </a:solidFill>
                <a:latin typeface="Arial"/>
              </a:rPr>
              <a:t>Val (98.62%) ≈ Test (98.51%), lệch 0.11%, chứng minh mô hình không overfit.</a:t>
            </a:r>
          </a:p>
        </p:txBody>
      </p:sp>
      <p:sp>
        <p:nvSpPr>
          <p:cNvPr id="12" name="Rounded Rectangle 11"/>
          <p:cNvSpPr/>
          <p:nvPr/>
        </p:nvSpPr>
        <p:spPr>
          <a:xfrm>
            <a:off x="6492240" y="4023360"/>
            <a:ext cx="237744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4023360"/>
            <a:ext cx="2377440" cy="2103120"/>
          </a:xfrm>
          <a:prstGeom prst="rect">
            <a:avLst/>
          </a:prstGeom>
          <a:noFill/>
        </p:spPr>
        <p:txBody>
          <a:bodyPr wrap="square" anchor="ctr">
            <a:spAutoFit/>
          </a:bodyPr>
          <a:lstStyle/>
          <a:p>
            <a:pPr algn="ctr">
              <a:defRPr sz="2200" b="1">
                <a:solidFill>
                  <a:srgbClr val="10B981"/>
                </a:solidFill>
                <a:latin typeface="Arial"/>
              </a:defRPr>
            </a:pPr>
            <a:r>
              <a:t>97.14%</a:t>
            </a:r>
          </a:p>
          <a:p>
            <a:pPr algn="ctr">
              <a:defRPr sz="950">
                <a:solidFill>
                  <a:srgbClr val="475569"/>
                </a:solidFill>
                <a:latin typeface="Arial"/>
              </a:defRPr>
            </a:pPr>
            <a:r>
              <a:t>F1 Pan-Tompkins QRS</a:t>
            </a:r>
          </a:p>
        </p:txBody>
      </p:sp>
      <p:sp>
        <p:nvSpPr>
          <p:cNvPr id="14" name="Rounded Rectangle 13"/>
          <p:cNvSpPr/>
          <p:nvPr/>
        </p:nvSpPr>
        <p:spPr>
          <a:xfrm>
            <a:off x="9052560" y="4023360"/>
            <a:ext cx="237744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0" y="4023360"/>
            <a:ext cx="2377440" cy="2103120"/>
          </a:xfrm>
          <a:prstGeom prst="rect">
            <a:avLst/>
          </a:prstGeom>
          <a:noFill/>
        </p:spPr>
        <p:txBody>
          <a:bodyPr wrap="square" anchor="ctr">
            <a:spAutoFit/>
          </a:bodyPr>
          <a:lstStyle/>
          <a:p>
            <a:pPr algn="ctr">
              <a:defRPr sz="2200" b="1">
                <a:solidFill>
                  <a:srgbClr val="2563EB"/>
                </a:solidFill>
                <a:latin typeface="Arial"/>
              </a:defRPr>
            </a:pPr>
            <a:r>
              <a:t>0.11%</a:t>
            </a:r>
          </a:p>
          <a:p>
            <a:pPr algn="ctr">
              <a:defRPr sz="950">
                <a:solidFill>
                  <a:srgbClr val="475569"/>
                </a:solidFill>
                <a:latin typeface="Arial"/>
              </a:defRPr>
            </a:pPr>
            <a:r>
              <a:t>Độ lệch Val - Test</a:t>
            </a:r>
            <a:br/>
            <a:r>
              <a:t>(Không Overfit)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02  |  PROJECT EXECUTION</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2.3 AI Implementation: Benchmark 5 Kiến Trúc 1D &amp; ResNet-1D</a:t>
            </a:r>
          </a:p>
          <a:p>
            <a:pPr>
              <a:spcBef>
                <a:spcPts val="200"/>
              </a:spcBef>
              <a:defRPr sz="1800" b="1">
                <a:solidFill>
                  <a:srgbClr val="0F172A"/>
                </a:solidFill>
                <a:latin typeface="Arial"/>
              </a:defRPr>
            </a:pPr>
            <a:r>
              <a:t>AI Implementation: Benchmark 5 Kiến Trúc 1D &amp; ResNet-1D</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08 / 18</a:t>
            </a:r>
          </a:p>
        </p:txBody>
      </p:sp>
      <p:pic>
        <p:nvPicPr>
          <p:cNvPr id="8" name="Picture 7" descr="03_model_benchmark_comparison.png"/>
          <p:cNvPicPr>
            <a:picLocks noChangeAspect="1"/>
          </p:cNvPicPr>
          <p:nvPr/>
        </p:nvPicPr>
        <p:blipFill>
          <a:blip r:embed="rId2"/>
          <a:stretch>
            <a:fillRect/>
          </a:stretch>
        </p:blipFill>
        <p:spPr>
          <a:xfrm>
            <a:off x="731520" y="1645920"/>
            <a:ext cx="5669280" cy="4058226"/>
          </a:xfrm>
          <a:prstGeom prst="rect">
            <a:avLst/>
          </a:prstGeom>
        </p:spPr>
      </p:pic>
      <p:sp>
        <p:nvSpPr>
          <p:cNvPr id="9" name="Rounded Rectangle 8"/>
          <p:cNvSpPr/>
          <p:nvPr/>
        </p:nvSpPr>
        <p:spPr>
          <a:xfrm>
            <a:off x="6583680" y="1645920"/>
            <a:ext cx="484632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1828800"/>
            <a:ext cx="4480560" cy="4114800"/>
          </a:xfrm>
          <a:prstGeom prst="rect">
            <a:avLst/>
          </a:prstGeom>
          <a:noFill/>
        </p:spPr>
        <p:txBody>
          <a:bodyPr wrap="square">
            <a:spAutoFit/>
          </a:bodyPr>
          <a:lstStyle/>
          <a:p>
            <a:pPr>
              <a:spcBef>
                <a:spcPts val="600"/>
              </a:spcBef>
              <a:spcAft>
                <a:spcPts val="400"/>
              </a:spcAft>
              <a:defRPr sz="1100" b="1">
                <a:solidFill>
                  <a:srgbClr val="1E3A8A"/>
                </a:solidFill>
                <a:latin typeface="Arial"/>
              </a:defRPr>
            </a:pPr>
            <a:r>
              <a:t>▶ TẠI SAO CHỌN RESNET-1D?</a:t>
            </a:r>
          </a:p>
          <a:p>
            <a:pPr>
              <a:lnSpc>
                <a:spcPct val="120000"/>
              </a:lnSpc>
              <a:spcAft>
                <a:spcPts val="300"/>
              </a:spcAft>
            </a:pPr>
            <a:r>
              <a:rPr sz="1000" b="1">
                <a:solidFill>
                  <a:srgbClr val="0F172A"/>
                </a:solidFill>
                <a:latin typeface="Arial"/>
              </a:rPr>
              <a:t>  • Độ chính xác cao nhất: </a:t>
            </a:r>
            <a:r>
              <a:rPr sz="1000">
                <a:solidFill>
                  <a:srgbClr val="475569"/>
                </a:solidFill>
                <a:latin typeface="Arial"/>
              </a:rPr>
              <a:t>Accuracy 98.43% – 98.57%, Macro-F1 91.70% (vượt trội CNN-LSTM 85.8%, TCN 82.8%, Mamba 79.3%).</a:t>
            </a:r>
          </a:p>
          <a:p>
            <a:pPr>
              <a:lnSpc>
                <a:spcPct val="120000"/>
              </a:lnSpc>
              <a:spcAft>
                <a:spcPts val="300"/>
              </a:spcAft>
            </a:pPr>
            <a:r>
              <a:rPr sz="1000" b="1">
                <a:solidFill>
                  <a:srgbClr val="0F172A"/>
                </a:solidFill>
                <a:latin typeface="Arial"/>
              </a:rPr>
              <a:t>  • Độ trễ suy luận thấp nhất: </a:t>
            </a:r>
            <a:r>
              <a:rPr sz="1000">
                <a:solidFill>
                  <a:srgbClr val="475569"/>
                </a:solidFill>
                <a:latin typeface="Arial"/>
              </a:rPr>
              <a:t>Chỉ 0.133 ms/nhịp, thông lượng 7,546 nhịp/giây, tối ưu cho WebSocket real-time.</a:t>
            </a:r>
          </a:p>
          <a:p>
            <a:pPr>
              <a:lnSpc>
                <a:spcPct val="120000"/>
              </a:lnSpc>
              <a:spcAft>
                <a:spcPts val="300"/>
              </a:spcAft>
            </a:pPr>
            <a:r>
              <a:rPr sz="1000" b="1">
                <a:solidFill>
                  <a:srgbClr val="0F172A"/>
                </a:solidFill>
                <a:latin typeface="Arial"/>
              </a:rPr>
              <a:t>  • Kiến trúc Residual Block: </a:t>
            </a:r>
            <a:r>
              <a:rPr sz="1000">
                <a:solidFill>
                  <a:srgbClr val="475569"/>
                </a:solidFill>
                <a:latin typeface="Arial"/>
              </a:rPr>
              <a:t>Stem Conv1D -&gt; 3 khối Residual Blocks với Skip Connections tránh tiêu biến đạo hàm.</a:t>
            </a:r>
          </a:p>
          <a:p>
            <a:pPr>
              <a:lnSpc>
                <a:spcPct val="120000"/>
              </a:lnSpc>
              <a:spcAft>
                <a:spcPts val="300"/>
              </a:spcAft>
            </a:pPr>
            <a:r>
              <a:rPr sz="1000" b="1">
                <a:solidFill>
                  <a:srgbClr val="0F172A"/>
                </a:solidFill>
                <a:latin typeface="Arial"/>
              </a:rPr>
              <a:t>  • Hiệu năng lớp V (PVC): </a:t>
            </a:r>
            <a:r>
              <a:rPr sz="1000">
                <a:solidFill>
                  <a:srgbClr val="475569"/>
                </a:solidFill>
                <a:latin typeface="Arial"/>
              </a:rPr>
              <a:t>Đạt Recall 96.20% và F1 95.61% trên nhóm rối loạn nhịp nguy hiểm nhất.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02  |  PROJECT EXECUTION</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2.4 AI Implementation: Explainable AI (1D Grad-CAM) &amp; AFib</a:t>
            </a:r>
          </a:p>
          <a:p>
            <a:pPr>
              <a:spcBef>
                <a:spcPts val="200"/>
              </a:spcBef>
              <a:defRPr sz="1800" b="1">
                <a:solidFill>
                  <a:srgbClr val="0F172A"/>
                </a:solidFill>
                <a:latin typeface="Arial"/>
              </a:defRPr>
            </a:pPr>
            <a:r>
              <a:t>AI Implementation: Explainable AI (1D Grad-CAM) &amp; AFib</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09 / 18</a:t>
            </a:r>
          </a:p>
        </p:txBody>
      </p:sp>
      <p:pic>
        <p:nvPicPr>
          <p:cNvPr id="8" name="Picture 7" descr="06_gradcam_heatmaps_5_classes.png"/>
          <p:cNvPicPr>
            <a:picLocks noChangeAspect="1"/>
          </p:cNvPicPr>
          <p:nvPr/>
        </p:nvPicPr>
        <p:blipFill>
          <a:blip r:embed="rId2"/>
          <a:stretch>
            <a:fillRect/>
          </a:stretch>
        </p:blipFill>
        <p:spPr>
          <a:xfrm>
            <a:off x="731520" y="1645920"/>
            <a:ext cx="5669280" cy="7267332"/>
          </a:xfrm>
          <a:prstGeom prst="rect">
            <a:avLst/>
          </a:prstGeom>
        </p:spPr>
      </p:pic>
      <p:sp>
        <p:nvSpPr>
          <p:cNvPr id="9" name="Rounded Rectangle 8"/>
          <p:cNvSpPr/>
          <p:nvPr/>
        </p:nvSpPr>
        <p:spPr>
          <a:xfrm>
            <a:off x="6583680" y="1645920"/>
            <a:ext cx="484632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1828800"/>
            <a:ext cx="4480560" cy="4114800"/>
          </a:xfrm>
          <a:prstGeom prst="rect">
            <a:avLst/>
          </a:prstGeom>
          <a:noFill/>
        </p:spPr>
        <p:txBody>
          <a:bodyPr wrap="square">
            <a:spAutoFit/>
          </a:bodyPr>
          <a:lstStyle/>
          <a:p>
            <a:pPr>
              <a:spcBef>
                <a:spcPts val="600"/>
              </a:spcBef>
              <a:spcAft>
                <a:spcPts val="400"/>
              </a:spcAft>
              <a:defRPr sz="1100" b="1">
                <a:solidFill>
                  <a:srgbClr val="1E3A8A"/>
                </a:solidFill>
                <a:latin typeface="Arial"/>
              </a:defRPr>
            </a:pPr>
            <a:r>
              <a:t>▶ TƯƠNG QUAN LÂM SÀNG CỦA 1D GRAD-CAM</a:t>
            </a:r>
          </a:p>
          <a:p>
            <a:pPr>
              <a:lnSpc>
                <a:spcPct val="120000"/>
              </a:lnSpc>
              <a:spcAft>
                <a:spcPts val="300"/>
              </a:spcAft>
            </a:pPr>
            <a:r>
              <a:rPr sz="1000" b="1">
                <a:solidFill>
                  <a:srgbClr val="0F172A"/>
                </a:solidFill>
                <a:latin typeface="Arial"/>
              </a:rPr>
              <a:t>  • Ngoại tâm thu thất (PVC - Lớp V): </a:t>
            </a:r>
            <a:r>
              <a:rPr sz="1000">
                <a:solidFill>
                  <a:srgbClr val="475569"/>
                </a:solidFill>
                <a:latin typeface="Arial"/>
              </a:rPr>
              <a:t>Bản đồ nhiệt tập trung &gt; 85% năng lượng vào phức bộ QRS giãn rộng (&gt; 120ms) và sóng T đảo chiều.</a:t>
            </a:r>
          </a:p>
          <a:p>
            <a:pPr>
              <a:lnSpc>
                <a:spcPct val="120000"/>
              </a:lnSpc>
              <a:spcAft>
                <a:spcPts val="300"/>
              </a:spcAft>
            </a:pPr>
            <a:r>
              <a:rPr sz="1000" b="1">
                <a:solidFill>
                  <a:srgbClr val="0F172A"/>
                </a:solidFill>
                <a:latin typeface="Arial"/>
              </a:rPr>
              <a:t>  • Ngoại tâm thu nhĩ (PAC - Lớp S): </a:t>
            </a:r>
            <a:r>
              <a:rPr sz="1000">
                <a:solidFill>
                  <a:srgbClr val="475569"/>
                </a:solidFill>
                <a:latin typeface="Arial"/>
              </a:rPr>
              <a:t>Trọng số kích hoạt mạnh tại vị trí sóng P biến dạng đến sớm.</a:t>
            </a:r>
          </a:p>
          <a:p>
            <a:pPr>
              <a:lnSpc>
                <a:spcPct val="120000"/>
              </a:lnSpc>
              <a:spcAft>
                <a:spcPts val="300"/>
              </a:spcAft>
            </a:pPr>
            <a:r>
              <a:rPr sz="1000" b="1">
                <a:solidFill>
                  <a:srgbClr val="0F172A"/>
                </a:solidFill>
                <a:latin typeface="Arial"/>
              </a:rPr>
              <a:t>  • Nhịp hợp nhất (Fusion - Lớp F): </a:t>
            </a:r>
            <a:r>
              <a:rPr sz="1000">
                <a:solidFill>
                  <a:srgbClr val="475569"/>
                </a:solidFill>
                <a:latin typeface="Arial"/>
              </a:rPr>
              <a:t>Bản đồ nhiệt phân bổ lưỡng cực tại cả sườn QRS và đoạn ST.</a:t>
            </a:r>
          </a:p>
          <a:p>
            <a:pPr>
              <a:lnSpc>
                <a:spcPct val="120000"/>
              </a:lnSpc>
              <a:spcAft>
                <a:spcPts val="300"/>
              </a:spcAft>
            </a:pPr>
            <a:r>
              <a:rPr sz="1000" b="1">
                <a:solidFill>
                  <a:srgbClr val="0F172A"/>
                </a:solidFill>
                <a:latin typeface="Arial"/>
              </a:rPr>
              <a:t>  • Sàng lọc Rung nhĩ (AFib Screener): </a:t>
            </a:r>
            <a:r>
              <a:rPr sz="1000">
                <a:solidFill>
                  <a:srgbClr val="475569"/>
                </a:solidFill>
                <a:latin typeface="Arial"/>
              </a:rPr>
              <a:t>Phân tích rối loạn nhịp điệu kéo dài qua Shannon Entropy của dRR, CV_RR và pNN50; kích hoạt khi vượt ngưỡng 0.62.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02  |  PROJECT EXECUTION</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2.5 System Design: Lượng Tử Hóa ONNX INT8 &amp; Triển Khai Edge</a:t>
            </a:r>
          </a:p>
          <a:p>
            <a:pPr>
              <a:spcBef>
                <a:spcPts val="200"/>
              </a:spcBef>
              <a:defRPr sz="1800" b="1">
                <a:solidFill>
                  <a:srgbClr val="0F172A"/>
                </a:solidFill>
                <a:latin typeface="Arial"/>
              </a:defRPr>
            </a:pPr>
            <a:r>
              <a:t>System Design: Lượng Tử Hóa ONNX INT8 &amp; Triển Khai Edge</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10 / 18</a:t>
            </a:r>
          </a:p>
        </p:txBody>
      </p:sp>
      <p:pic>
        <p:nvPicPr>
          <p:cNvPr id="8" name="Picture 7" descr="10_onnx_quantization_comparison.png"/>
          <p:cNvPicPr>
            <a:picLocks noChangeAspect="1"/>
          </p:cNvPicPr>
          <p:nvPr/>
        </p:nvPicPr>
        <p:blipFill>
          <a:blip r:embed="rId2"/>
          <a:stretch>
            <a:fillRect/>
          </a:stretch>
        </p:blipFill>
        <p:spPr>
          <a:xfrm>
            <a:off x="731520" y="1645920"/>
            <a:ext cx="5669280" cy="3454102"/>
          </a:xfrm>
          <a:prstGeom prst="rect">
            <a:avLst/>
          </a:prstGeom>
        </p:spPr>
      </p:pic>
      <p:sp>
        <p:nvSpPr>
          <p:cNvPr id="9" name="Rounded Rectangle 8"/>
          <p:cNvSpPr/>
          <p:nvPr/>
        </p:nvSpPr>
        <p:spPr>
          <a:xfrm>
            <a:off x="6583680" y="1645920"/>
            <a:ext cx="484632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1828800"/>
            <a:ext cx="4480560" cy="4114800"/>
          </a:xfrm>
          <a:prstGeom prst="rect">
            <a:avLst/>
          </a:prstGeom>
          <a:noFill/>
        </p:spPr>
        <p:txBody>
          <a:bodyPr wrap="square">
            <a:spAutoFit/>
          </a:bodyPr>
          <a:lstStyle/>
          <a:p>
            <a:pPr>
              <a:spcBef>
                <a:spcPts val="600"/>
              </a:spcBef>
              <a:spcAft>
                <a:spcPts val="400"/>
              </a:spcAft>
              <a:defRPr sz="1100" b="1">
                <a:solidFill>
                  <a:srgbClr val="1E3A8A"/>
                </a:solidFill>
                <a:latin typeface="Arial"/>
              </a:defRPr>
            </a:pPr>
            <a:r>
              <a:t>▶ KẾT QUẢ LƯỢNG TỬ HÓA ONNX INT8</a:t>
            </a:r>
          </a:p>
          <a:p>
            <a:pPr>
              <a:lnSpc>
                <a:spcPct val="120000"/>
              </a:lnSpc>
              <a:spcAft>
                <a:spcPts val="300"/>
              </a:spcAft>
            </a:pPr>
            <a:r>
              <a:rPr sz="1000" b="1">
                <a:solidFill>
                  <a:srgbClr val="0F172A"/>
                </a:solidFill>
                <a:latin typeface="Arial"/>
              </a:rPr>
              <a:t>  • Nén dung lượng 74.5%: </a:t>
            </a:r>
            <a:r>
              <a:rPr sz="1000">
                <a:solidFill>
                  <a:srgbClr val="475569"/>
                </a:solidFill>
                <a:latin typeface="Arial"/>
              </a:rPr>
              <a:t>Giảm từ 2,735.5 KB xuống 697.3 KB (Hoàn thành xuất sắc mục tiêu đề cương &lt; 700 KB).</a:t>
            </a:r>
          </a:p>
          <a:p>
            <a:pPr>
              <a:lnSpc>
                <a:spcPct val="120000"/>
              </a:lnSpc>
              <a:spcAft>
                <a:spcPts val="300"/>
              </a:spcAft>
            </a:pPr>
            <a:r>
              <a:rPr sz="1000" b="1">
                <a:solidFill>
                  <a:srgbClr val="0F172A"/>
                </a:solidFill>
                <a:latin typeface="Arial"/>
              </a:rPr>
              <a:t>  • Bảo toàn độ chính xác: </a:t>
            </a:r>
            <a:r>
              <a:rPr sz="1000">
                <a:solidFill>
                  <a:srgbClr val="475569"/>
                </a:solidFill>
                <a:latin typeface="Arial"/>
              </a:rPr>
              <a:t>Accuracy end-to-end chỉ rớt 0.67 điểm % (94.33% -&gt; 93.66%, nằm trong ngưỡng an toàn 2%).</a:t>
            </a:r>
          </a:p>
          <a:p>
            <a:pPr>
              <a:lnSpc>
                <a:spcPct val="120000"/>
              </a:lnSpc>
              <a:spcAft>
                <a:spcPts val="300"/>
              </a:spcAft>
            </a:pPr>
            <a:r>
              <a:rPr sz="1000" b="1">
                <a:solidFill>
                  <a:srgbClr val="0F172A"/>
                </a:solidFill>
                <a:latin typeface="Arial"/>
              </a:rPr>
              <a:t>  • Tăng tốc ONNX FP32: </a:t>
            </a:r>
            <a:r>
              <a:rPr sz="1000">
                <a:solidFill>
                  <a:srgbClr val="475569"/>
                </a:solidFill>
                <a:latin typeface="Arial"/>
              </a:rPr>
              <a:t>Đạt độ trễ 0.29 ms/nhịp (tăng tốc gần 4 lần so với PyTorch gốc trên CPU thông thường).</a:t>
            </a:r>
          </a:p>
          <a:p>
            <a:pPr>
              <a:lnSpc>
                <a:spcPct val="120000"/>
              </a:lnSpc>
              <a:spcAft>
                <a:spcPts val="300"/>
              </a:spcAft>
            </a:pPr>
            <a:r>
              <a:rPr sz="1000" b="1">
                <a:solidFill>
                  <a:srgbClr val="0F172A"/>
                </a:solidFill>
                <a:latin typeface="Arial"/>
              </a:rPr>
              <a:t>  • Sẵn sàng Edge Wearable: </a:t>
            </a:r>
            <a:r>
              <a:rPr sz="1000">
                <a:solidFill>
                  <a:srgbClr val="475569"/>
                </a:solidFill>
                <a:latin typeface="Arial"/>
              </a:rPr>
              <a:t>Dung lượng nhỏ cho phép nạp trực tiếp vào bộ nhớ flash vi điều khiển IoT (Raspberry Pi, Jetson Nano, ARM NEON).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03  |  RESULTS &amp; DEMO</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3.1 Data &amp; Processing Results: Đo Lường Định Lượng Toàn Diện</a:t>
            </a:r>
          </a:p>
          <a:p>
            <a:pPr>
              <a:spcBef>
                <a:spcPts val="200"/>
              </a:spcBef>
              <a:defRPr sz="1800" b="1">
                <a:solidFill>
                  <a:srgbClr val="0F172A"/>
                </a:solidFill>
                <a:latin typeface="Arial"/>
              </a:defRPr>
            </a:pPr>
            <a:r>
              <a:t>Data &amp; Processing Results: Đo Lường Định Lượng Toàn Diện</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11 / 18</a:t>
            </a:r>
          </a:p>
        </p:txBody>
      </p:sp>
      <p:pic>
        <p:nvPicPr>
          <p:cNvPr id="8" name="Picture 7" descr="04_resnet1d_confusion_matrix.png"/>
          <p:cNvPicPr>
            <a:picLocks noChangeAspect="1"/>
          </p:cNvPicPr>
          <p:nvPr/>
        </p:nvPicPr>
        <p:blipFill>
          <a:blip r:embed="rId2"/>
          <a:stretch>
            <a:fillRect/>
          </a:stretch>
        </p:blipFill>
        <p:spPr>
          <a:xfrm>
            <a:off x="731520" y="1645920"/>
            <a:ext cx="5120640" cy="2256532"/>
          </a:xfrm>
          <a:prstGeom prst="rect">
            <a:avLst/>
          </a:prstGeom>
        </p:spPr>
      </p:pic>
      <p:sp>
        <p:nvSpPr>
          <p:cNvPr id="9" name="Rounded Rectangle 8"/>
          <p:cNvSpPr/>
          <p:nvPr/>
        </p:nvSpPr>
        <p:spPr>
          <a:xfrm>
            <a:off x="6217920" y="1645920"/>
            <a:ext cx="521208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828800"/>
            <a:ext cx="4846320" cy="4114800"/>
          </a:xfrm>
          <a:prstGeom prst="rect">
            <a:avLst/>
          </a:prstGeom>
          <a:noFill/>
        </p:spPr>
        <p:txBody>
          <a:bodyPr wrap="square">
            <a:spAutoFit/>
          </a:bodyPr>
          <a:lstStyle/>
          <a:p>
            <a:pPr>
              <a:spcBef>
                <a:spcPts val="600"/>
              </a:spcBef>
              <a:spcAft>
                <a:spcPts val="400"/>
              </a:spcAft>
              <a:defRPr sz="1150" b="1">
                <a:solidFill>
                  <a:srgbClr val="1E3A8A"/>
                </a:solidFill>
                <a:latin typeface="Arial"/>
              </a:defRPr>
            </a:pPr>
            <a:r>
              <a:t>▶ CÁC CHỈ SỐ ĐỊNH LƯỢNG NGHIỆM THU</a:t>
            </a:r>
          </a:p>
          <a:p>
            <a:pPr>
              <a:lnSpc>
                <a:spcPct val="120000"/>
              </a:lnSpc>
              <a:spcAft>
                <a:spcPts val="300"/>
              </a:spcAft>
            </a:pPr>
            <a:r>
              <a:rPr sz="1050" b="1">
                <a:solidFill>
                  <a:srgbClr val="0F172A"/>
                </a:solidFill>
                <a:latin typeface="Arial"/>
              </a:rPr>
              <a:t>  • Độ chính xác Kaggle Test: </a:t>
            </a:r>
            <a:r>
              <a:rPr sz="1050">
                <a:solidFill>
                  <a:srgbClr val="475569"/>
                </a:solidFill>
                <a:latin typeface="Arial"/>
              </a:rPr>
              <a:t>Accuracy 98.57%, Macro-F1 91.70% trên 21,892 nhịp test độc lập.</a:t>
            </a:r>
          </a:p>
          <a:p>
            <a:pPr>
              <a:lnSpc>
                <a:spcPct val="120000"/>
              </a:lnSpc>
              <a:spcAft>
                <a:spcPts val="300"/>
              </a:spcAft>
            </a:pPr>
            <a:r>
              <a:rPr sz="1050" b="1">
                <a:solidFill>
                  <a:srgbClr val="0F172A"/>
                </a:solidFill>
                <a:latin typeface="Arial"/>
              </a:rPr>
              <a:t>  • Lớp V (PVC - Nguy hiểm nhất): </a:t>
            </a:r>
            <a:r>
              <a:rPr sz="1050">
                <a:solidFill>
                  <a:srgbClr val="475569"/>
                </a:solidFill>
                <a:latin typeface="Arial"/>
              </a:rPr>
              <a:t>Precision 95.02%, Recall 96.20%, F1 95.61%.</a:t>
            </a:r>
          </a:p>
          <a:p>
            <a:pPr>
              <a:lnSpc>
                <a:spcPct val="120000"/>
              </a:lnSpc>
              <a:spcAft>
                <a:spcPts val="300"/>
              </a:spcAft>
            </a:pPr>
            <a:r>
              <a:rPr sz="1050" b="1">
                <a:solidFill>
                  <a:srgbClr val="0F172A"/>
                </a:solidFill>
                <a:latin typeface="Arial"/>
              </a:rPr>
              <a:t>  • Lớp N (Bình thường): </a:t>
            </a:r>
            <a:r>
              <a:rPr sz="1050">
                <a:solidFill>
                  <a:srgbClr val="475569"/>
                </a:solidFill>
                <a:latin typeface="Arial"/>
              </a:rPr>
              <a:t>Precision 99.21%, Recall 99.19%, F1 99.20%.</a:t>
            </a:r>
          </a:p>
          <a:p>
            <a:pPr>
              <a:lnSpc>
                <a:spcPct val="120000"/>
              </a:lnSpc>
              <a:spcAft>
                <a:spcPts val="300"/>
              </a:spcAft>
            </a:pPr>
            <a:r>
              <a:rPr sz="1050" b="1">
                <a:solidFill>
                  <a:srgbClr val="0F172A"/>
                </a:solidFill>
                <a:latin typeface="Arial"/>
              </a:rPr>
              <a:t>  • Đo lường End-to-End PhysioNet: </a:t>
            </a:r>
            <a:r>
              <a:rPr sz="1050">
                <a:solidFill>
                  <a:srgbClr val="475569"/>
                </a:solidFill>
                <a:latin typeface="Arial"/>
              </a:rPr>
              <a:t>Accuracy đạt 94.11% – 96.62% từ tín hiệu thô 360Hz qua Pan-Tompkins đến chẩn đoán AI so với nhãn bác sĩ (.atr).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03  |  RESULTS &amp; DEMO</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3.2 Service Implementation: Backend FastAPI &amp; Cơ Sở Dữ Liệu RBAC</a:t>
            </a:r>
          </a:p>
          <a:p>
            <a:pPr>
              <a:spcBef>
                <a:spcPts val="200"/>
              </a:spcBef>
              <a:defRPr sz="1800" b="1">
                <a:solidFill>
                  <a:srgbClr val="0F172A"/>
                </a:solidFill>
                <a:latin typeface="Arial"/>
              </a:defRPr>
            </a:pPr>
            <a:r>
              <a:t>Service Implementation: Backend FastAPI &amp; Cơ Sở Dữ Liệu RBAC</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12 / 18</a:t>
            </a:r>
          </a:p>
        </p:txBody>
      </p:sp>
      <p:sp>
        <p:nvSpPr>
          <p:cNvPr id="8" name="Rounded Rectangle 7"/>
          <p:cNvSpPr/>
          <p:nvPr/>
        </p:nvSpPr>
        <p:spPr>
          <a:xfrm>
            <a:off x="731520" y="1645920"/>
            <a:ext cx="512064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4754880" cy="4114800"/>
          </a:xfrm>
          <a:prstGeom prst="rect">
            <a:avLst/>
          </a:prstGeom>
          <a:noFill/>
        </p:spPr>
        <p:txBody>
          <a:bodyPr wrap="square">
            <a:spAutoFit/>
          </a:bodyPr>
          <a:lstStyle/>
          <a:p>
            <a:pPr>
              <a:spcBef>
                <a:spcPts val="600"/>
              </a:spcBef>
              <a:spcAft>
                <a:spcPts val="400"/>
              </a:spcAft>
              <a:defRPr sz="1150" b="1">
                <a:solidFill>
                  <a:srgbClr val="1E3A8A"/>
                </a:solidFill>
                <a:latin typeface="Arial"/>
              </a:defRPr>
            </a:pPr>
            <a:r>
              <a:t>▶ FASTAPI BACKEND &amp; WEBSOCKET 360Hz</a:t>
            </a:r>
          </a:p>
          <a:p>
            <a:pPr>
              <a:lnSpc>
                <a:spcPct val="120000"/>
              </a:lnSpc>
              <a:spcAft>
                <a:spcPts val="300"/>
              </a:spcAft>
            </a:pPr>
            <a:r>
              <a:rPr sz="1050" b="1">
                <a:solidFill>
                  <a:srgbClr val="0F172A"/>
                </a:solidFill>
                <a:latin typeface="Arial"/>
              </a:rPr>
              <a:t>  • Streaming 360Hz 2 kênh đồng thời: </a:t>
            </a:r>
            <a:r>
              <a:rPr sz="1050">
                <a:solidFill>
                  <a:srgbClr val="475569"/>
                </a:solidFill>
                <a:latin typeface="Arial"/>
              </a:rPr>
              <a:t>Phát luồng song song kênh chẩn đoán chính (MLII) và tham chiếu (V1), 36 gói tin/giây, độ trễ &lt; 5ms.</a:t>
            </a:r>
          </a:p>
          <a:p>
            <a:pPr>
              <a:lnSpc>
                <a:spcPct val="120000"/>
              </a:lnSpc>
              <a:spcAft>
                <a:spcPts val="300"/>
              </a:spcAft>
            </a:pPr>
            <a:r>
              <a:rPr sz="1050" b="1">
                <a:solidFill>
                  <a:srgbClr val="0F172A"/>
                </a:solidFill>
                <a:latin typeface="Arial"/>
              </a:rPr>
              <a:t>  • Mẫu thiết kế Inference Singleton: </a:t>
            </a:r>
            <a:r>
              <a:rPr sz="1050">
                <a:solidFill>
                  <a:srgbClr val="475569"/>
                </a:solidFill>
                <a:latin typeface="Arial"/>
              </a:rPr>
              <a:t>Nạp mô hình 1 lần duy nhất lúc khởi động, loại bỏ hoàn toàn hiện tượng nghẽn RAM.</a:t>
            </a:r>
          </a:p>
          <a:p>
            <a:pPr>
              <a:lnSpc>
                <a:spcPct val="120000"/>
              </a:lnSpc>
              <a:spcAft>
                <a:spcPts val="300"/>
              </a:spcAft>
            </a:pPr>
            <a:r>
              <a:rPr sz="1050" b="1">
                <a:solidFill>
                  <a:srgbClr val="0F172A"/>
                </a:solidFill>
                <a:latin typeface="Arial"/>
              </a:rPr>
              <a:t>  • Theo dõi huyết động học: </a:t>
            </a:r>
            <a:r>
              <a:rPr sz="1050">
                <a:solidFill>
                  <a:srgbClr val="475569"/>
                </a:solidFill>
                <a:latin typeface="Arial"/>
              </a:rPr>
              <a:t>Tính toán liên tục nhịp tim (BPM) và biến thiên nhịp tim HRV (RMSSD, SDNN) trên cửa sổ trượt 30 giây.</a:t>
            </a:r>
          </a:p>
        </p:txBody>
      </p:sp>
      <p:sp>
        <p:nvSpPr>
          <p:cNvPr id="10" name="Rounded Rectangle 9"/>
          <p:cNvSpPr/>
          <p:nvPr/>
        </p:nvSpPr>
        <p:spPr>
          <a:xfrm>
            <a:off x="6217920" y="1645920"/>
            <a:ext cx="521208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846320" cy="4114800"/>
          </a:xfrm>
          <a:prstGeom prst="rect">
            <a:avLst/>
          </a:prstGeom>
          <a:noFill/>
        </p:spPr>
        <p:txBody>
          <a:bodyPr wrap="square">
            <a:spAutoFit/>
          </a:bodyPr>
          <a:lstStyle/>
          <a:p>
            <a:pPr>
              <a:spcBef>
                <a:spcPts val="600"/>
              </a:spcBef>
              <a:spcAft>
                <a:spcPts val="400"/>
              </a:spcAft>
              <a:defRPr sz="1150" b="1">
                <a:solidFill>
                  <a:srgbClr val="2563EB"/>
                </a:solidFill>
                <a:latin typeface="Arial"/>
              </a:defRPr>
            </a:pPr>
            <a:r>
              <a:t>▶ DATABASE &amp; PHÂN QUYỀN RBAC 3 VAI TRÒ</a:t>
            </a:r>
          </a:p>
          <a:p>
            <a:pPr>
              <a:lnSpc>
                <a:spcPct val="120000"/>
              </a:lnSpc>
              <a:spcAft>
                <a:spcPts val="300"/>
              </a:spcAft>
            </a:pPr>
            <a:r>
              <a:rPr sz="1050" b="1">
                <a:solidFill>
                  <a:srgbClr val="0F172A"/>
                </a:solidFill>
                <a:latin typeface="Arial"/>
              </a:rPr>
              <a:t>  • 5 Bảng thực thể chuẩn: </a:t>
            </a:r>
            <a:r>
              <a:rPr sz="1050">
                <a:solidFill>
                  <a:srgbClr val="475569"/>
                </a:solidFill>
                <a:latin typeface="Arial"/>
              </a:rPr>
              <a:t>users, patients, ecg_records, anomaly_events, audit_trails (SQLite / PostgreSQL).</a:t>
            </a:r>
          </a:p>
          <a:p>
            <a:pPr>
              <a:lnSpc>
                <a:spcPct val="120000"/>
              </a:lnSpc>
              <a:spcAft>
                <a:spcPts val="300"/>
              </a:spcAft>
            </a:pPr>
            <a:r>
              <a:rPr sz="1050" b="1">
                <a:solidFill>
                  <a:srgbClr val="0F172A"/>
                </a:solidFill>
                <a:latin typeface="Arial"/>
              </a:rPr>
              <a:t>  • Bảo mật JWT HttpOnly: </a:t>
            </a:r>
            <a:r>
              <a:rPr sz="1050">
                <a:solidFill>
                  <a:srgbClr val="475569"/>
                </a:solidFill>
                <a:latin typeface="Arial"/>
              </a:rPr>
              <a:t>Mã phiên lưu trong Secure Cookie, triệt tiêu hoàn toàn nguy cơ tấn công đánh cắp XSS.</a:t>
            </a:r>
          </a:p>
          <a:p>
            <a:pPr>
              <a:lnSpc>
                <a:spcPct val="120000"/>
              </a:lnSpc>
              <a:spcAft>
                <a:spcPts val="300"/>
              </a:spcAft>
            </a:pPr>
            <a:r>
              <a:rPr sz="1050" b="1">
                <a:solidFill>
                  <a:srgbClr val="0F172A"/>
                </a:solidFill>
                <a:latin typeface="Arial"/>
              </a:rPr>
              <a:t>  • Phân quyền 3 vai trò: </a:t>
            </a:r>
            <a:r>
              <a:rPr sz="1050">
                <a:solidFill>
                  <a:srgbClr val="475569"/>
                </a:solidFill>
                <a:latin typeface="Arial"/>
              </a:rPr>
              <a:t>Admin (toàn quyền, cấu hình), Doctor (chẩn đoán, duyệt/sửa nhãn, xuất PDF), Nurse (giám sát, không sửa nhãn).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03  |  RESULTS &amp; DEMO</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3.3 Clinical Usability: Human-in-the-Loop &amp; Chuẩn IEC 60601-1-8</a:t>
            </a:r>
          </a:p>
          <a:p>
            <a:pPr>
              <a:spcBef>
                <a:spcPts val="200"/>
              </a:spcBef>
              <a:defRPr sz="1800" b="1">
                <a:solidFill>
                  <a:srgbClr val="0F172A"/>
                </a:solidFill>
                <a:latin typeface="Arial"/>
              </a:defRPr>
            </a:pPr>
            <a:r>
              <a:t>Clinical Usability: Human-in-the-Loop &amp; Chuẩn IEC 60601-1-8</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13 / 18</a:t>
            </a:r>
          </a:p>
        </p:txBody>
      </p:sp>
      <p:sp>
        <p:nvSpPr>
          <p:cNvPr id="8" name="Rounded Rectangle 7"/>
          <p:cNvSpPr/>
          <p:nvPr/>
        </p:nvSpPr>
        <p:spPr>
          <a:xfrm>
            <a:off x="731520" y="1645920"/>
            <a:ext cx="338328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3017520" cy="4114800"/>
          </a:xfrm>
          <a:prstGeom prst="rect">
            <a:avLst/>
          </a:prstGeom>
          <a:noFill/>
        </p:spPr>
        <p:txBody>
          <a:bodyPr wrap="square">
            <a:spAutoFit/>
          </a:bodyPr>
          <a:lstStyle/>
          <a:p>
            <a:pPr>
              <a:spcBef>
                <a:spcPts val="600"/>
              </a:spcBef>
              <a:spcAft>
                <a:spcPts val="400"/>
              </a:spcAft>
              <a:defRPr sz="1100" b="1">
                <a:solidFill>
                  <a:srgbClr val="1E3A8A"/>
                </a:solidFill>
                <a:latin typeface="Arial"/>
              </a:defRPr>
            </a:pPr>
            <a:r>
              <a:t>▶ HUMAN-IN-THE-LOOP</a:t>
            </a:r>
          </a:p>
          <a:p>
            <a:pPr>
              <a:lnSpc>
                <a:spcPct val="120000"/>
              </a:lnSpc>
              <a:spcAft>
                <a:spcPts val="300"/>
              </a:spcAft>
            </a:pPr>
            <a:r>
              <a:rPr sz="1000" b="1">
                <a:solidFill>
                  <a:srgbClr val="0F172A"/>
                </a:solidFill>
                <a:latin typeface="Arial"/>
              </a:rPr>
              <a:t>  • Triết lý y đức: </a:t>
            </a:r>
            <a:r>
              <a:rPr sz="1000">
                <a:solidFill>
                  <a:srgbClr val="475569"/>
                </a:solidFill>
                <a:latin typeface="Arial"/>
              </a:rPr>
              <a:t>AI hỗ trợ sàng lọc — Bác sĩ quyết định cuối cùng.</a:t>
            </a:r>
          </a:p>
          <a:p>
            <a:pPr>
              <a:lnSpc>
                <a:spcPct val="120000"/>
              </a:lnSpc>
              <a:spcAft>
                <a:spcPts val="300"/>
              </a:spcAft>
            </a:pPr>
            <a:r>
              <a:rPr sz="1000" b="1">
                <a:solidFill>
                  <a:srgbClr val="0F172A"/>
                </a:solidFill>
                <a:latin typeface="Arial"/>
              </a:rPr>
              <a:t>  • Thẩm định nhãn: </a:t>
            </a:r>
            <a:r>
              <a:rPr sz="1000">
                <a:solidFill>
                  <a:srgbClr val="475569"/>
                </a:solidFill>
                <a:latin typeface="Arial"/>
              </a:rPr>
              <a:t>Bác sĩ có quyền Xác nhận hoặc Ghi đè (Override) nhãn của AI.</a:t>
            </a:r>
          </a:p>
          <a:p>
            <a:pPr>
              <a:lnSpc>
                <a:spcPct val="120000"/>
              </a:lnSpc>
              <a:spcAft>
                <a:spcPts val="300"/>
              </a:spcAft>
            </a:pPr>
            <a:r>
              <a:rPr sz="1000" b="1">
                <a:solidFill>
                  <a:srgbClr val="0F172A"/>
                </a:solidFill>
                <a:latin typeface="Arial"/>
              </a:rPr>
              <a:t>  • Giao tiếp API: </a:t>
            </a:r>
            <a:r>
              <a:rPr sz="1000">
                <a:solidFill>
                  <a:srgbClr val="475569"/>
                </a:solidFill>
                <a:latin typeface="Arial"/>
              </a:rPr>
              <a:t>Endpoint POST /api/anomalies/{id}/verify.</a:t>
            </a:r>
          </a:p>
        </p:txBody>
      </p:sp>
      <p:sp>
        <p:nvSpPr>
          <p:cNvPr id="10" name="Rounded Rectangle 9"/>
          <p:cNvSpPr/>
          <p:nvPr/>
        </p:nvSpPr>
        <p:spPr>
          <a:xfrm>
            <a:off x="4389120" y="1645920"/>
            <a:ext cx="338328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828800"/>
            <a:ext cx="3017520" cy="4114800"/>
          </a:xfrm>
          <a:prstGeom prst="rect">
            <a:avLst/>
          </a:prstGeom>
          <a:noFill/>
        </p:spPr>
        <p:txBody>
          <a:bodyPr wrap="square">
            <a:spAutoFit/>
          </a:bodyPr>
          <a:lstStyle/>
          <a:p>
            <a:pPr>
              <a:spcBef>
                <a:spcPts val="600"/>
              </a:spcBef>
              <a:spcAft>
                <a:spcPts val="400"/>
              </a:spcAft>
              <a:defRPr sz="1100" b="1">
                <a:solidFill>
                  <a:srgbClr val="2563EB"/>
                </a:solidFill>
                <a:latin typeface="Arial"/>
              </a:defRPr>
            </a:pPr>
            <a:r>
              <a:t>▶ AUDIT TRAIL PHÁP LÝ</a:t>
            </a:r>
          </a:p>
          <a:p>
            <a:pPr>
              <a:lnSpc>
                <a:spcPct val="120000"/>
              </a:lnSpc>
              <a:spcAft>
                <a:spcPts val="300"/>
              </a:spcAft>
            </a:pPr>
            <a:r>
              <a:rPr sz="1000" b="1">
                <a:solidFill>
                  <a:srgbClr val="0F172A"/>
                </a:solidFill>
                <a:latin typeface="Arial"/>
              </a:rPr>
              <a:t>  • Lưu vết bất biến: </a:t>
            </a:r>
            <a:r>
              <a:rPr sz="1000">
                <a:solidFill>
                  <a:srgbClr val="475569"/>
                </a:solidFill>
                <a:latin typeface="Arial"/>
              </a:rPr>
              <a:t>Mọi can thiệp sửa nhãn đều tự động lưu vào bảng audit_trails.</a:t>
            </a:r>
          </a:p>
          <a:p>
            <a:pPr>
              <a:lnSpc>
                <a:spcPct val="120000"/>
              </a:lnSpc>
              <a:spcAft>
                <a:spcPts val="300"/>
              </a:spcAft>
            </a:pPr>
            <a:r>
              <a:rPr sz="1000" b="1">
                <a:solidFill>
                  <a:srgbClr val="0F172A"/>
                </a:solidFill>
                <a:latin typeface="Arial"/>
              </a:rPr>
              <a:t>  • Dữ liệu kiểm toán: </a:t>
            </a:r>
            <a:r>
              <a:rPr sz="1000">
                <a:solidFill>
                  <a:srgbClr val="475569"/>
                </a:solidFill>
                <a:latin typeface="Arial"/>
              </a:rPr>
              <a:t>Dấu thời gian, ID bác sĩ, nhãn cũ, nhãn mới, lý do y khoa.</a:t>
            </a:r>
          </a:p>
          <a:p>
            <a:pPr>
              <a:lnSpc>
                <a:spcPct val="120000"/>
              </a:lnSpc>
              <a:spcAft>
                <a:spcPts val="300"/>
              </a:spcAft>
            </a:pPr>
            <a:r>
              <a:rPr sz="1000" b="1">
                <a:solidFill>
                  <a:srgbClr val="0F172A"/>
                </a:solidFill>
                <a:latin typeface="Arial"/>
              </a:rPr>
              <a:t>  • Minh bạch trách nhiệm: </a:t>
            </a:r>
            <a:r>
              <a:rPr sz="1000">
                <a:solidFill>
                  <a:srgbClr val="475569"/>
                </a:solidFill>
                <a:latin typeface="Arial"/>
              </a:rPr>
              <a:t>Sẵn sàng phục vụ thanh tra y tế.</a:t>
            </a:r>
          </a:p>
        </p:txBody>
      </p:sp>
      <p:sp>
        <p:nvSpPr>
          <p:cNvPr id="12" name="Rounded Rectangle 11"/>
          <p:cNvSpPr/>
          <p:nvPr/>
        </p:nvSpPr>
        <p:spPr>
          <a:xfrm>
            <a:off x="8046720" y="1645920"/>
            <a:ext cx="338328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828800"/>
            <a:ext cx="3017520" cy="4114800"/>
          </a:xfrm>
          <a:prstGeom prst="rect">
            <a:avLst/>
          </a:prstGeom>
          <a:noFill/>
        </p:spPr>
        <p:txBody>
          <a:bodyPr wrap="square">
            <a:spAutoFit/>
          </a:bodyPr>
          <a:lstStyle/>
          <a:p>
            <a:pPr>
              <a:spcBef>
                <a:spcPts val="600"/>
              </a:spcBef>
              <a:spcAft>
                <a:spcPts val="400"/>
              </a:spcAft>
              <a:defRPr sz="1100" b="1">
                <a:solidFill>
                  <a:srgbClr val="EF4444"/>
                </a:solidFill>
                <a:latin typeface="Arial"/>
              </a:defRPr>
            </a:pPr>
            <a:r>
              <a:t>▶ CHUẨN IEC 60601-1-8</a:t>
            </a:r>
          </a:p>
          <a:p>
            <a:pPr>
              <a:lnSpc>
                <a:spcPct val="120000"/>
              </a:lnSpc>
              <a:spcAft>
                <a:spcPts val="300"/>
              </a:spcAft>
            </a:pPr>
            <a:r>
              <a:rPr sz="1000" b="1">
                <a:solidFill>
                  <a:srgbClr val="0F172A"/>
                </a:solidFill>
                <a:latin typeface="Arial"/>
              </a:rPr>
              <a:t>  • Báo động 3 cấp độ: </a:t>
            </a:r>
            <a:r>
              <a:rPr sz="1000">
                <a:solidFill>
                  <a:srgbClr val="475569"/>
                </a:solidFill>
                <a:latin typeface="Arial"/>
              </a:rPr>
              <a:t>Xanh (Bình thường) -&gt; Vàng (Chú ý) -&gt; Đỏ (Nguy cấp).</a:t>
            </a:r>
          </a:p>
          <a:p>
            <a:pPr>
              <a:lnSpc>
                <a:spcPct val="120000"/>
              </a:lnSpc>
              <a:spcAft>
                <a:spcPts val="300"/>
              </a:spcAft>
            </a:pPr>
            <a:r>
              <a:rPr sz="1000" b="1">
                <a:solidFill>
                  <a:srgbClr val="0F172A"/>
                </a:solidFill>
                <a:latin typeface="Arial"/>
              </a:rPr>
              <a:t>  • Tắt chuông 2 phút: </a:t>
            </a:r>
            <a:r>
              <a:rPr sz="1000">
                <a:solidFill>
                  <a:srgbClr val="475569"/>
                </a:solidFill>
                <a:latin typeface="Arial"/>
              </a:rPr>
              <a:t>Tính năng Mute an toàn tự bật lại sau 2 phút nếu nguy cơ còn.</a:t>
            </a:r>
          </a:p>
          <a:p>
            <a:pPr>
              <a:lnSpc>
                <a:spcPct val="120000"/>
              </a:lnSpc>
              <a:spcAft>
                <a:spcPts val="300"/>
              </a:spcAft>
            </a:pPr>
            <a:r>
              <a:rPr sz="1000" b="1">
                <a:solidFill>
                  <a:srgbClr val="0F172A"/>
                </a:solidFill>
                <a:latin typeface="Arial"/>
              </a:rPr>
              <a:t>  • Báo cáo y tế PDF: </a:t>
            </a:r>
            <a:r>
              <a:rPr sz="1000">
                <a:solidFill>
                  <a:srgbClr val="475569"/>
                </a:solidFill>
                <a:latin typeface="Arial"/>
              </a:rPr>
              <a:t>Xuất file PDF bệnh án có chữ ký số bác sĩ.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03  |  RESULTS &amp; DEMO</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3.4 &amp; 3.5 Testing &amp; Live Demo: 42/42 Tests Pass &amp; Kịch Bản 5 Pha</a:t>
            </a:r>
          </a:p>
          <a:p>
            <a:pPr>
              <a:spcBef>
                <a:spcPts val="200"/>
              </a:spcBef>
              <a:defRPr sz="1800" b="1">
                <a:solidFill>
                  <a:srgbClr val="0F172A"/>
                </a:solidFill>
                <a:latin typeface="Arial"/>
              </a:defRPr>
            </a:pPr>
            <a:r>
              <a:t>Testing &amp; Live Demo: 42/42 Tests Pass &amp; Kịch Bản 5 Pha</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14 / 18</a:t>
            </a:r>
          </a:p>
        </p:txBody>
      </p:sp>
      <p:sp>
        <p:nvSpPr>
          <p:cNvPr id="8" name="Rounded Rectangle 7"/>
          <p:cNvSpPr/>
          <p:nvPr/>
        </p:nvSpPr>
        <p:spPr>
          <a:xfrm>
            <a:off x="731520" y="1645920"/>
            <a:ext cx="329184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45920"/>
            <a:ext cx="3291840" cy="1371600"/>
          </a:xfrm>
          <a:prstGeom prst="rect">
            <a:avLst/>
          </a:prstGeom>
          <a:noFill/>
        </p:spPr>
        <p:txBody>
          <a:bodyPr wrap="square" anchor="ctr">
            <a:spAutoFit/>
          </a:bodyPr>
          <a:lstStyle/>
          <a:p>
            <a:pPr algn="ctr">
              <a:defRPr sz="2200" b="1">
                <a:solidFill>
                  <a:srgbClr val="10B981"/>
                </a:solidFill>
                <a:latin typeface="Arial"/>
              </a:defRPr>
            </a:pPr>
            <a:r>
              <a:t>42 / 42</a:t>
            </a:r>
          </a:p>
          <a:p>
            <a:pPr algn="ctr">
              <a:defRPr sz="950">
                <a:solidFill>
                  <a:srgbClr val="475569"/>
                </a:solidFill>
                <a:latin typeface="Arial"/>
              </a:defRPr>
            </a:pPr>
            <a:r>
              <a:t>Bài test Pytest PASS (100%)</a:t>
            </a:r>
            <a:br/>
            <a:r>
              <a:t>Bao phủ Auth, WS, DSP, RBAC</a:t>
            </a:r>
          </a:p>
        </p:txBody>
      </p:sp>
      <p:sp>
        <p:nvSpPr>
          <p:cNvPr id="10" name="Rounded Rectangle 9"/>
          <p:cNvSpPr/>
          <p:nvPr/>
        </p:nvSpPr>
        <p:spPr>
          <a:xfrm>
            <a:off x="4389120" y="1645920"/>
            <a:ext cx="329184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45920"/>
            <a:ext cx="3291840" cy="1371600"/>
          </a:xfrm>
          <a:prstGeom prst="rect">
            <a:avLst/>
          </a:prstGeom>
          <a:noFill/>
        </p:spPr>
        <p:txBody>
          <a:bodyPr wrap="square" anchor="ctr">
            <a:spAutoFit/>
          </a:bodyPr>
          <a:lstStyle/>
          <a:p>
            <a:pPr algn="ctr">
              <a:defRPr sz="2200" b="1">
                <a:solidFill>
                  <a:srgbClr val="2563EB"/>
                </a:solidFill>
                <a:latin typeface="Arial"/>
              </a:defRPr>
            </a:pPr>
            <a:r>
              <a:t>0 Cảnh Báo</a:t>
            </a:r>
          </a:p>
          <a:p>
            <a:pPr algn="ctr">
              <a:defRPr sz="950">
                <a:solidFill>
                  <a:srgbClr val="475569"/>
                </a:solidFill>
                <a:latin typeface="Arial"/>
              </a:defRPr>
            </a:pPr>
            <a:r>
              <a:t>Lint sạch hoàn toàn</a:t>
            </a:r>
            <a:br/>
            <a:r>
              <a:t>Ruff (Python) &amp; Oxlint (React)</a:t>
            </a:r>
          </a:p>
        </p:txBody>
      </p:sp>
      <p:sp>
        <p:nvSpPr>
          <p:cNvPr id="12" name="Rounded Rectangle 11"/>
          <p:cNvSpPr/>
          <p:nvPr/>
        </p:nvSpPr>
        <p:spPr>
          <a:xfrm>
            <a:off x="8046720" y="1645920"/>
            <a:ext cx="338328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645920"/>
            <a:ext cx="3383280" cy="1371600"/>
          </a:xfrm>
          <a:prstGeom prst="rect">
            <a:avLst/>
          </a:prstGeom>
          <a:noFill/>
        </p:spPr>
        <p:txBody>
          <a:bodyPr wrap="square" anchor="ctr">
            <a:spAutoFit/>
          </a:bodyPr>
          <a:lstStyle/>
          <a:p>
            <a:pPr algn="ctr">
              <a:defRPr sz="2200" b="1">
                <a:solidFill>
                  <a:srgbClr val="1E3A8A"/>
                </a:solidFill>
                <a:latin typeface="Arial"/>
              </a:defRPr>
            </a:pPr>
            <a:r>
              <a:t>2 Containers</a:t>
            </a:r>
          </a:p>
          <a:p>
            <a:pPr algn="ctr">
              <a:defRPr sz="950">
                <a:solidFill>
                  <a:srgbClr val="475569"/>
                </a:solidFill>
                <a:latin typeface="Arial"/>
              </a:defRPr>
            </a:pPr>
            <a:r>
              <a:t>Docker Compose sẵn sàng</a:t>
            </a:r>
            <a:br/>
            <a:r>
              <a:t>FastAPI + Nginx Reverse Proxy</a:t>
            </a:r>
          </a:p>
        </p:txBody>
      </p:sp>
      <p:sp>
        <p:nvSpPr>
          <p:cNvPr id="14" name="Rounded Rectangle 13"/>
          <p:cNvSpPr/>
          <p:nvPr/>
        </p:nvSpPr>
        <p:spPr>
          <a:xfrm>
            <a:off x="731520" y="3200400"/>
            <a:ext cx="1069848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337560"/>
            <a:ext cx="10332720" cy="2651760"/>
          </a:xfrm>
          <a:prstGeom prst="rect">
            <a:avLst/>
          </a:prstGeom>
          <a:noFill/>
        </p:spPr>
        <p:txBody>
          <a:bodyPr wrap="square">
            <a:spAutoFit/>
          </a:bodyPr>
          <a:lstStyle/>
          <a:p>
            <a:pPr>
              <a:spcBef>
                <a:spcPts val="600"/>
              </a:spcBef>
              <a:spcAft>
                <a:spcPts val="400"/>
              </a:spcAft>
              <a:defRPr sz="1050" b="1">
                <a:solidFill>
                  <a:srgbClr val="1E3A8A"/>
                </a:solidFill>
                <a:latin typeface="Arial"/>
              </a:defRPr>
            </a:pPr>
            <a:r>
              <a:t>▶ KỊCH BẢN TRÌNH DIỄN HỆ THỐNG TRỰC TIẾP (LIVE DEMO 5 PHA TẠI HTTP://LOCALHOST:5173)</a:t>
            </a:r>
          </a:p>
          <a:p>
            <a:pPr>
              <a:lnSpc>
                <a:spcPct val="120000"/>
              </a:lnSpc>
              <a:spcAft>
                <a:spcPts val="300"/>
              </a:spcAft>
            </a:pPr>
            <a:r>
              <a:rPr sz="950" b="1">
                <a:solidFill>
                  <a:srgbClr val="0F172A"/>
                </a:solidFill>
                <a:latin typeface="Arial"/>
              </a:rPr>
              <a:t>  • Pha 1 (Streaming 360Hz): </a:t>
            </a:r>
            <a:r>
              <a:rPr sz="950">
                <a:solidFill>
                  <a:srgbClr val="475569"/>
                </a:solidFill>
                <a:latin typeface="Arial"/>
              </a:rPr>
              <a:t>Phát Record 100 nhịp bình thường (Xanh) -&gt; Chuyển Record 200 xuất hiện PVC, AI tức thì cảnh báo Đỏ (Confidence &gt; 95%).</a:t>
            </a:r>
          </a:p>
          <a:p>
            <a:pPr>
              <a:lnSpc>
                <a:spcPct val="120000"/>
              </a:lnSpc>
              <a:spcAft>
                <a:spcPts val="300"/>
              </a:spcAft>
            </a:pPr>
            <a:r>
              <a:rPr sz="950" b="1">
                <a:solidFill>
                  <a:srgbClr val="0F172A"/>
                </a:solidFill>
                <a:latin typeface="Arial"/>
              </a:rPr>
              <a:t>  • Pha 2 (Báo động IEC 60601-1-8): </a:t>
            </a:r>
            <a:r>
              <a:rPr sz="950">
                <a:solidFill>
                  <a:srgbClr val="475569"/>
                </a:solidFill>
                <a:latin typeface="Arial"/>
              </a:rPr>
              <a:t>Kích hoạt chuông cảnh báo âm thanh và đèn chớp đỏ khi gặp chuỗi PVC -&gt; Thao tác bấm nút 'Tắt chuông 2 phút'.</a:t>
            </a:r>
          </a:p>
          <a:p>
            <a:pPr>
              <a:lnSpc>
                <a:spcPct val="120000"/>
              </a:lnSpc>
              <a:spcAft>
                <a:spcPts val="300"/>
              </a:spcAft>
            </a:pPr>
            <a:r>
              <a:rPr sz="950" b="1">
                <a:solidFill>
                  <a:srgbClr val="0F172A"/>
                </a:solidFill>
                <a:latin typeface="Arial"/>
              </a:rPr>
              <a:t>  • Pha 3 (Explainable AI 1D Grad-CAM): </a:t>
            </a:r>
            <a:r>
              <a:rPr sz="950">
                <a:solidFill>
                  <a:srgbClr val="475569"/>
                </a:solidFill>
                <a:latin typeface="Arial"/>
              </a:rPr>
              <a:t>Nhấp vào nhịp PVC trên đồ thị -&gt; Quan sát bản đồ nhiệt 1D Grad-CAM sáng rực tại phức bộ QRS giãn rộng.</a:t>
            </a:r>
          </a:p>
          <a:p>
            <a:pPr>
              <a:lnSpc>
                <a:spcPct val="120000"/>
              </a:lnSpc>
              <a:spcAft>
                <a:spcPts val="300"/>
              </a:spcAft>
            </a:pPr>
            <a:r>
              <a:rPr sz="950" b="1">
                <a:solidFill>
                  <a:srgbClr val="0F172A"/>
                </a:solidFill>
                <a:latin typeface="Arial"/>
              </a:rPr>
              <a:t>  • Pha 4 (Human-in-the-loop &amp; Xuất PDF): </a:t>
            </a:r>
            <a:r>
              <a:rPr sz="950">
                <a:solidFill>
                  <a:srgbClr val="475569"/>
                </a:solidFill>
                <a:latin typeface="Arial"/>
              </a:rPr>
              <a:t>Đăng nhập tài khoản Bác sĩ, thẩm định/sửa nhãn, kiểm tra Audit Trail và nhấn nút Xuất Báo cáo Bệnh án PDF hoàn chỉnh.</a:t>
            </a:r>
          </a:p>
          <a:p>
            <a:pPr>
              <a:lnSpc>
                <a:spcPct val="120000"/>
              </a:lnSpc>
              <a:spcAft>
                <a:spcPts val="300"/>
              </a:spcAft>
            </a:pPr>
            <a:r>
              <a:rPr sz="950" b="1">
                <a:solidFill>
                  <a:srgbClr val="0F172A"/>
                </a:solidFill>
                <a:latin typeface="Arial"/>
              </a:rPr>
              <a:t>  • Pha 5 (Chẩn đoán Offline &amp; Edge ONNX): </a:t>
            </a:r>
            <a:r>
              <a:rPr sz="950">
                <a:solidFill>
                  <a:srgbClr val="475569"/>
                </a:solidFill>
                <a:latin typeface="Arial"/>
              </a:rPr>
              <a:t>Tải tệp CSV ngoài phân tích trọn vẹn bản ghi trong vài giây; kiểm tra mô hình nhúng ONNX INT8 dung lượng 697.3 KB.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04  |  PROJECTED IMPACT</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4.1 Accomplishments &amp; Benefits: Thành Tựu &amp; Tác Động Thực Tiễn</a:t>
            </a:r>
          </a:p>
          <a:p>
            <a:pPr>
              <a:spcBef>
                <a:spcPts val="200"/>
              </a:spcBef>
              <a:defRPr sz="1800" b="1">
                <a:solidFill>
                  <a:srgbClr val="0F172A"/>
                </a:solidFill>
                <a:latin typeface="Arial"/>
              </a:defRPr>
            </a:pPr>
            <a:r>
              <a:t>Accomplishments &amp; Benefits: Thành Tựu &amp; Tác Động Thực Tiễn</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15 / 18</a:t>
            </a:r>
          </a:p>
        </p:txBody>
      </p:sp>
      <p:sp>
        <p:nvSpPr>
          <p:cNvPr id="8" name="Rounded Rectangle 7"/>
          <p:cNvSpPr/>
          <p:nvPr/>
        </p:nvSpPr>
        <p:spPr>
          <a:xfrm>
            <a:off x="731520" y="1645920"/>
            <a:ext cx="338328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645920"/>
            <a:ext cx="3383280" cy="10972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20240"/>
            <a:ext cx="3017520" cy="4023360"/>
          </a:xfrm>
          <a:prstGeom prst="rect">
            <a:avLst/>
          </a:prstGeom>
          <a:noFill/>
        </p:spPr>
        <p:txBody>
          <a:bodyPr wrap="square">
            <a:spAutoFit/>
          </a:bodyPr>
          <a:lstStyle/>
          <a:p>
            <a:pPr>
              <a:spcAft>
                <a:spcPts val="1200"/>
              </a:spcAft>
              <a:defRPr b="1" sz="1150">
                <a:solidFill>
                  <a:srgbClr val="1E3A8A"/>
                </a:solidFill>
              </a:defRPr>
            </a:pPr>
            <a:r>
              <a:t>PHÒNG HỒI SỨC CẤP CỨU</a:t>
            </a:r>
          </a:p>
          <a:p>
            <a:pPr>
              <a:lnSpc>
                <a:spcPct val="135000"/>
              </a:lnSpc>
              <a:defRPr sz="1000">
                <a:solidFill>
                  <a:srgbClr val="0F172A"/>
                </a:solidFill>
              </a:defRPr>
            </a:pPr>
            <a:r>
              <a:t>• Giảm tải áp lực theo dõi thủ công cho bác sĩ trực.</a:t>
            </a:r>
            <a:br/>
            <a:r>
              <a:t>• Phát hiện sớm nhịp ngoại tâm thu thất và rung thất nguy hiểm.</a:t>
            </a:r>
            <a:br/>
            <a:r>
              <a:t>• XAI Grad-CAM minh bạch hóa căn cứ hỗ trợ bác sĩ ra quyết định nhanh chóng.</a:t>
            </a:r>
          </a:p>
        </p:txBody>
      </p:sp>
      <p:sp>
        <p:nvSpPr>
          <p:cNvPr id="11" name="Rounded Rectangle 10"/>
          <p:cNvSpPr/>
          <p:nvPr/>
        </p:nvSpPr>
        <p:spPr>
          <a:xfrm>
            <a:off x="4389120" y="1645920"/>
            <a:ext cx="338328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645920"/>
            <a:ext cx="338328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920240"/>
            <a:ext cx="3017520" cy="4023360"/>
          </a:xfrm>
          <a:prstGeom prst="rect">
            <a:avLst/>
          </a:prstGeom>
          <a:noFill/>
        </p:spPr>
        <p:txBody>
          <a:bodyPr wrap="square">
            <a:spAutoFit/>
          </a:bodyPr>
          <a:lstStyle/>
          <a:p>
            <a:pPr>
              <a:spcAft>
                <a:spcPts val="1200"/>
              </a:spcAft>
              <a:defRPr b="1" sz="1150">
                <a:solidFill>
                  <a:srgbClr val="2563EB"/>
                </a:solidFill>
              </a:defRPr>
            </a:pPr>
            <a:r>
              <a:t>THIẾT BỊ ĐEO HOLTER IOT</a:t>
            </a:r>
          </a:p>
          <a:p>
            <a:pPr>
              <a:lnSpc>
                <a:spcPct val="135000"/>
              </a:lnSpc>
              <a:defRPr sz="1000">
                <a:solidFill>
                  <a:srgbClr val="0F172A"/>
                </a:solidFill>
              </a:defRPr>
            </a:pPr>
            <a:r>
              <a:t>• Mô hình ONNX INT8 nén 697 KB cho phép chạy Edge AI trực tiếp trên thiết bị đeo.</a:t>
            </a:r>
            <a:br/>
            <a:r>
              <a:t>• Phân loại nhịp tim tại chỗ không phụ thuộc vào đường truyền mạng Internet.</a:t>
            </a:r>
            <a:br/>
            <a:r>
              <a:t>• Chi phí sản xuất thấp, mở rộng tiếp cận Telehealth.</a:t>
            </a:r>
          </a:p>
        </p:txBody>
      </p:sp>
      <p:sp>
        <p:nvSpPr>
          <p:cNvPr id="14" name="Rounded Rectangle 13"/>
          <p:cNvSpPr/>
          <p:nvPr/>
        </p:nvSpPr>
        <p:spPr>
          <a:xfrm>
            <a:off x="8046720" y="1645920"/>
            <a:ext cx="338328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645920"/>
            <a:ext cx="3383280" cy="10972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920240"/>
            <a:ext cx="3017520" cy="4023360"/>
          </a:xfrm>
          <a:prstGeom prst="rect">
            <a:avLst/>
          </a:prstGeom>
          <a:noFill/>
        </p:spPr>
        <p:txBody>
          <a:bodyPr wrap="square">
            <a:spAutoFit/>
          </a:bodyPr>
          <a:lstStyle/>
          <a:p>
            <a:pPr>
              <a:spcAft>
                <a:spcPts val="1200"/>
              </a:spcAft>
              <a:defRPr b="1" sz="1150">
                <a:solidFill>
                  <a:srgbClr val="10B981"/>
                </a:solidFill>
              </a:defRPr>
            </a:pPr>
            <a:r>
              <a:t>GIÁ TRỊ HỌC THUẬT &amp; CÔNG NGHỆ</a:t>
            </a:r>
          </a:p>
          <a:p>
            <a:pPr>
              <a:lnSpc>
                <a:spcPct val="135000"/>
              </a:lnSpc>
              <a:defRPr sz="1000">
                <a:solidFill>
                  <a:srgbClr val="0F172A"/>
                </a:solidFill>
              </a:defRPr>
            </a:pPr>
            <a:r>
              <a:t>• Tạo lập bộ benchmark thực nghiệm chuẩn mực cho 5 kiến trúc Deep Learning 1D.</a:t>
            </a:r>
            <a:br/>
            <a:r>
              <a:t>• Tiên phong ứng dụng 1D Grad-CAM cho chuỗi thời gian y tế.</a:t>
            </a:r>
            <a:br/>
            <a:r>
              <a:t>• Khung kiến trúc Full-Stack y tế hoàn chỉnh đạt chuẩn IEC 60601-1-8.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04  |  PROJECTED IMPACT</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4.2 Future Improvements &amp; Limitations: Đánh Giá Trung Thực</a:t>
            </a:r>
          </a:p>
          <a:p>
            <a:pPr>
              <a:spcBef>
                <a:spcPts val="200"/>
              </a:spcBef>
              <a:defRPr sz="1800" b="1">
                <a:solidFill>
                  <a:srgbClr val="0F172A"/>
                </a:solidFill>
                <a:latin typeface="Arial"/>
              </a:defRPr>
            </a:pPr>
            <a:r>
              <a:t>Future Improvements &amp; Limitations: Đánh Giá Trung Thực</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16 / 18</a:t>
            </a:r>
          </a:p>
        </p:txBody>
      </p:sp>
      <p:pic>
        <p:nvPicPr>
          <p:cNvPr id="8" name="Picture 7" descr="09_cross_database_generalization.png"/>
          <p:cNvPicPr>
            <a:picLocks noChangeAspect="1"/>
          </p:cNvPicPr>
          <p:nvPr/>
        </p:nvPicPr>
        <p:blipFill>
          <a:blip r:embed="rId2"/>
          <a:stretch>
            <a:fillRect/>
          </a:stretch>
        </p:blipFill>
        <p:spPr>
          <a:xfrm>
            <a:off x="731520" y="1645920"/>
            <a:ext cx="5486400" cy="1786297"/>
          </a:xfrm>
          <a:prstGeom prst="rect">
            <a:avLst/>
          </a:prstGeom>
        </p:spPr>
      </p:pic>
      <p:sp>
        <p:nvSpPr>
          <p:cNvPr id="9" name="Rounded Rectangle 8"/>
          <p:cNvSpPr/>
          <p:nvPr/>
        </p:nvSpPr>
        <p:spPr>
          <a:xfrm>
            <a:off x="6400800" y="1645920"/>
            <a:ext cx="5029200" cy="4480560"/>
          </a:xfrm>
          <a:prstGeom prst="roundRect">
            <a:avLst/>
          </a:prstGeom>
          <a:solidFill>
            <a:srgbClr val="FFFFFF"/>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828800"/>
            <a:ext cx="4663440" cy="4114800"/>
          </a:xfrm>
          <a:prstGeom prst="rect">
            <a:avLst/>
          </a:prstGeom>
          <a:noFill/>
        </p:spPr>
        <p:txBody>
          <a:bodyPr wrap="square">
            <a:spAutoFit/>
          </a:bodyPr>
          <a:lstStyle/>
          <a:p>
            <a:pPr>
              <a:spcBef>
                <a:spcPts val="600"/>
              </a:spcBef>
              <a:spcAft>
                <a:spcPts val="400"/>
              </a:spcAft>
              <a:defRPr sz="1050" b="1">
                <a:solidFill>
                  <a:srgbClr val="EF4444"/>
                </a:solidFill>
                <a:latin typeface="Arial"/>
              </a:defRPr>
            </a:pPr>
            <a:r>
              <a:t>▶ 4 HẠN CHẾ KỸ THUẬT &amp; ĐỊNH HƯỚNG CẦN HỖ TRỢ</a:t>
            </a:r>
          </a:p>
          <a:p>
            <a:pPr>
              <a:lnSpc>
                <a:spcPct val="120000"/>
              </a:lnSpc>
              <a:spcAft>
                <a:spcPts val="300"/>
              </a:spcAft>
            </a:pPr>
            <a:r>
              <a:rPr sz="950" b="1">
                <a:solidFill>
                  <a:srgbClr val="0F172A"/>
                </a:solidFill>
                <a:latin typeface="Arial"/>
              </a:rPr>
              <a:t>  • 1. Domain Shift ở lớp hiếm (S/F): </a:t>
            </a:r>
            <a:r>
              <a:rPr sz="950">
                <a:solidFill>
                  <a:srgbClr val="475569"/>
                </a:solidFill>
                <a:latin typeface="Arial"/>
              </a:rPr>
              <a:t>Lớp N và V giữ độ nhạy tốt (78-94%), nhưng lớp S và F bị sụt giảm Recall trên INCART, SVDB, EDB do sai lệch vị trí đạo trình đo và số mẫu gốc quá ít. Đã fine-tune nâng lên 93.18%; giải pháp lâu dài là train đa nguồn.</a:t>
            </a:r>
          </a:p>
          <a:p>
            <a:pPr>
              <a:lnSpc>
                <a:spcPct val="120000"/>
              </a:lnSpc>
              <a:spcAft>
                <a:spcPts val="300"/>
              </a:spcAft>
            </a:pPr>
            <a:r>
              <a:rPr sz="950" b="1">
                <a:solidFill>
                  <a:srgbClr val="0F172A"/>
                </a:solidFill>
                <a:latin typeface="Arial"/>
              </a:rPr>
              <a:t>  • 2. Ngưỡng quy tắc Rung nhĩ (0.62): </a:t>
            </a:r>
            <a:r>
              <a:rPr sz="950">
                <a:solidFill>
                  <a:srgbClr val="475569"/>
                </a:solidFill>
                <a:latin typeface="Arial"/>
              </a:rPr>
              <a:t>Được chọn theo thực nghiệm trên MIT-BIH; cần kiểm chứng thống kê mù trên toàn bộ tập PhysioNet AFDB.</a:t>
            </a:r>
          </a:p>
          <a:p>
            <a:pPr>
              <a:lnSpc>
                <a:spcPct val="120000"/>
              </a:lnSpc>
              <a:spcAft>
                <a:spcPts val="300"/>
              </a:spcAft>
            </a:pPr>
            <a:r>
              <a:rPr sz="950" b="1">
                <a:solidFill>
                  <a:srgbClr val="0F172A"/>
                </a:solidFill>
                <a:latin typeface="Arial"/>
              </a:rPr>
              <a:t>  • 3. Cảm biến phần cứng IoT: </a:t>
            </a:r>
            <a:r>
              <a:rPr sz="950">
                <a:solidFill>
                  <a:srgbClr val="475569"/>
                </a:solidFill>
                <a:latin typeface="Arial"/>
              </a:rPr>
              <a:t>Hiện chạy qua giả lập WebSocket 360Hz; chưa hàn nối tiếp mạch cảm biến AD8232/MAX30003 + ESP32.</a:t>
            </a:r>
          </a:p>
          <a:p>
            <a:pPr>
              <a:lnSpc>
                <a:spcPct val="120000"/>
              </a:lnSpc>
              <a:spcAft>
                <a:spcPts val="300"/>
              </a:spcAft>
            </a:pPr>
            <a:r>
              <a:rPr sz="950" b="1">
                <a:solidFill>
                  <a:srgbClr val="0F172A"/>
                </a:solidFill>
                <a:latin typeface="Arial"/>
              </a:rPr>
              <a:t>  • 4. Thử nghiệm lâm sàng: </a:t>
            </a:r>
            <a:r>
              <a:rPr sz="950">
                <a:solidFill>
                  <a:srgbClr val="475569"/>
                </a:solidFill>
                <a:latin typeface="Arial"/>
              </a:rPr>
              <a:t>Chưa triển khai thử nghiệm mù đôi trực tiếp tại bệnh viện.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20040"/>
            <a:ext cx="4572000" cy="274320"/>
          </a:xfrm>
          <a:prstGeom prst="rect">
            <a:avLst/>
          </a:prstGeom>
          <a:noFill/>
        </p:spPr>
        <p:txBody>
          <a:bodyPr wrap="none">
            <a:spAutoFit/>
          </a:bodyPr>
          <a:lstStyle/>
          <a:p>
            <a:pPr>
              <a:defRPr sz="950" b="1">
                <a:solidFill>
                  <a:srgbClr val="475569"/>
                </a:solidFill>
                <a:latin typeface="Arial"/>
              </a:defRPr>
            </a:pPr>
            <a:r>
              <a:t>NEURO-ECG | Capstone Project SIC 2026</a:t>
            </a:r>
          </a:p>
        </p:txBody>
      </p:sp>
      <p:sp>
        <p:nvSpPr>
          <p:cNvPr id="3" name="Rectangle 2"/>
          <p:cNvSpPr/>
          <p:nvPr/>
        </p:nvSpPr>
        <p:spPr>
          <a:xfrm>
            <a:off x="9875520" y="274320"/>
            <a:ext cx="15544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Arial"/>
              </a:defRPr>
            </a:pPr>
            <a:r>
              <a:t>UNIT 05  |  TEAM REVIEW</a:t>
            </a:r>
          </a:p>
        </p:txBody>
      </p:sp>
      <p:sp>
        <p:nvSpPr>
          <p:cNvPr id="4" name="TextBox 3"/>
          <p:cNvSpPr txBox="1"/>
          <p:nvPr/>
        </p:nvSpPr>
        <p:spPr>
          <a:xfrm>
            <a:off x="731520" y="640080"/>
            <a:ext cx="10698480" cy="731520"/>
          </a:xfrm>
          <a:prstGeom prst="rect">
            <a:avLst/>
          </a:prstGeom>
          <a:noFill/>
        </p:spPr>
        <p:txBody>
          <a:bodyPr wrap="square" tIns="0" bIns="0" lIns="0" rIns="0">
            <a:spAutoFit/>
          </a:bodyPr>
          <a:lstStyle/>
          <a:p>
            <a:pPr>
              <a:defRPr sz="1100" b="1">
                <a:solidFill>
                  <a:srgbClr val="2563EB"/>
                </a:solidFill>
                <a:latin typeface="Arial"/>
              </a:defRPr>
            </a:pPr>
            <a:r>
              <a:t>5.1 Team Member Review &amp; Roadmap (Tự Đánh Giá &amp; Lộ Trình)</a:t>
            </a:r>
          </a:p>
          <a:p>
            <a:pPr>
              <a:spcBef>
                <a:spcPts val="200"/>
              </a:spcBef>
              <a:defRPr sz="1800" b="1">
                <a:solidFill>
                  <a:srgbClr val="0F172A"/>
                </a:solidFill>
                <a:latin typeface="Arial"/>
              </a:defRPr>
            </a:pPr>
            <a:r>
              <a:t>Team Member Review &amp; Roadmap (Tự Đánh Giá &amp; Lộ Trình)</a:t>
            </a:r>
          </a:p>
        </p:txBody>
      </p:sp>
      <p:sp>
        <p:nvSpPr>
          <p:cNvPr id="5" name="Rectangle 4"/>
          <p:cNvSpPr/>
          <p:nvPr/>
        </p:nvSpPr>
        <p:spPr>
          <a:xfrm>
            <a:off x="731520" y="1417320"/>
            <a:ext cx="10698480"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46520"/>
            <a:ext cx="7315200" cy="274320"/>
          </a:xfrm>
          <a:prstGeom prst="rect">
            <a:avLst/>
          </a:prstGeom>
          <a:noFill/>
        </p:spPr>
        <p:txBody>
          <a:bodyPr wrap="none">
            <a:spAutoFit/>
          </a:bodyPr>
          <a:lstStyle/>
          <a:p>
            <a:pPr>
              <a:defRPr sz="900">
                <a:solidFill>
                  <a:srgbClr val="94A3B8"/>
                </a:solidFill>
                <a:latin typeface="Arial"/>
              </a:defRPr>
            </a:pPr>
            <a:r>
              <a:t>Samsung Innovation Campus (SIC) - HUST | Team NEURO-ECG</a:t>
            </a:r>
          </a:p>
        </p:txBody>
      </p:sp>
      <p:sp>
        <p:nvSpPr>
          <p:cNvPr id="7" name="TextBox 6"/>
          <p:cNvSpPr txBox="1"/>
          <p:nvPr/>
        </p:nvSpPr>
        <p:spPr>
          <a:xfrm>
            <a:off x="9601200" y="6446520"/>
            <a:ext cx="1828800" cy="274320"/>
          </a:xfrm>
          <a:prstGeom prst="rect">
            <a:avLst/>
          </a:prstGeom>
          <a:noFill/>
        </p:spPr>
        <p:txBody>
          <a:bodyPr wrap="none">
            <a:spAutoFit/>
          </a:bodyPr>
          <a:lstStyle/>
          <a:p>
            <a:pPr algn="r">
              <a:defRPr sz="900" b="1">
                <a:solidFill>
                  <a:srgbClr val="475569"/>
                </a:solidFill>
                <a:latin typeface="Arial"/>
              </a:defRPr>
            </a:pPr>
            <a:r>
              <a:t>Slide 17 / 18</a:t>
            </a:r>
          </a:p>
        </p:txBody>
      </p:sp>
      <p:sp>
        <p:nvSpPr>
          <p:cNvPr id="8" name="Rounded Rectangle 7"/>
          <p:cNvSpPr/>
          <p:nvPr/>
        </p:nvSpPr>
        <p:spPr>
          <a:xfrm>
            <a:off x="731520" y="1645920"/>
            <a:ext cx="512064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83080"/>
            <a:ext cx="4754880" cy="1645920"/>
          </a:xfrm>
          <a:prstGeom prst="rect">
            <a:avLst/>
          </a:prstGeom>
          <a:noFill/>
        </p:spPr>
        <p:txBody>
          <a:bodyPr wrap="square">
            <a:spAutoFit/>
          </a:bodyPr>
          <a:lstStyle/>
          <a:p>
            <a:pPr>
              <a:defRPr b="1" sz="1100">
                <a:solidFill>
                  <a:srgbClr val="1E3A8A"/>
                </a:solidFill>
              </a:defRPr>
            </a:pPr>
            <a:r>
              <a:t>NGUYỄN ĐÀO NAM HẢI — Thu hoạch cá nhân</a:t>
            </a:r>
          </a:p>
          <a:p>
            <a:pPr>
              <a:spcBef>
                <a:spcPts val="400"/>
              </a:spcBef>
              <a:defRPr sz="950" i="1">
                <a:solidFill>
                  <a:srgbClr val="0F172A"/>
                </a:solidFill>
              </a:defRPr>
            </a:pPr>
            <a:r>
              <a:t>"Làm chủ trọn vẹn từ nghiên cứu giải thuật Deep Learning 1D, kỹ thuật XAI Grad-CAM, tối ưu lượng tử hóa nhúng ONNX INT8 đến hạ tầng truyền phát thời gian thực WebSocket 360Hz phục vụ sản phẩm hoàn chỉnh."</a:t>
            </a:r>
          </a:p>
        </p:txBody>
      </p:sp>
      <p:sp>
        <p:nvSpPr>
          <p:cNvPr id="10" name="Rounded Rectangle 9"/>
          <p:cNvSpPr/>
          <p:nvPr/>
        </p:nvSpPr>
        <p:spPr>
          <a:xfrm>
            <a:off x="6217920" y="1645920"/>
            <a:ext cx="52120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783080"/>
            <a:ext cx="4846320" cy="1645920"/>
          </a:xfrm>
          <a:prstGeom prst="rect">
            <a:avLst/>
          </a:prstGeom>
          <a:noFill/>
        </p:spPr>
        <p:txBody>
          <a:bodyPr wrap="square">
            <a:spAutoFit/>
          </a:bodyPr>
          <a:lstStyle/>
          <a:p>
            <a:pPr>
              <a:defRPr b="1" sz="1100">
                <a:solidFill>
                  <a:srgbClr val="2563EB"/>
                </a:solidFill>
              </a:defRPr>
            </a:pPr>
            <a:r>
              <a:t>PHAN THỊ HẢI YẾN — Thu hoạch cá nhân</a:t>
            </a:r>
          </a:p>
          <a:p>
            <a:pPr>
              <a:spcBef>
                <a:spcPts val="400"/>
              </a:spcBef>
              <a:defRPr sz="950" i="1">
                <a:solidFill>
                  <a:srgbClr val="0F172A"/>
                </a:solidFill>
              </a:defRPr>
            </a:pPr>
            <a:r>
              <a:t>"Nắm vững các phương pháp xử lý tín hiệu số y sinh, thấu hiểu sâu sắc bài học khắc phục rò rỉ dữ liệu trong Machine Learning thực chiến và quy trình kiểm định chất lượng phần mềm theo tiêu chuẩn y tế quốc tế."</a:t>
            </a:r>
          </a:p>
        </p:txBody>
      </p:sp>
      <p:sp>
        <p:nvSpPr>
          <p:cNvPr id="12" name="Rounded Rectangle 11"/>
          <p:cNvSpPr/>
          <p:nvPr/>
        </p:nvSpPr>
        <p:spPr>
          <a:xfrm>
            <a:off x="731520" y="3749039"/>
            <a:ext cx="10698480" cy="2377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86200"/>
            <a:ext cx="10149840" cy="2103120"/>
          </a:xfrm>
          <a:prstGeom prst="rect">
            <a:avLst/>
          </a:prstGeom>
          <a:noFill/>
        </p:spPr>
        <p:txBody>
          <a:bodyPr wrap="square">
            <a:spAutoFit/>
          </a:bodyPr>
          <a:lstStyle/>
          <a:p>
            <a:pPr>
              <a:spcBef>
                <a:spcPts val="600"/>
              </a:spcBef>
              <a:spcAft>
                <a:spcPts val="400"/>
              </a:spcAft>
              <a:defRPr sz="1100" b="1">
                <a:solidFill>
                  <a:srgbClr val="0F172A"/>
                </a:solidFill>
                <a:latin typeface="Arial"/>
              </a:defRPr>
            </a:pPr>
            <a:r>
              <a:t>▶ LỘ TRÌNH 3 GIAI ĐOẠN HƯỚNG TỚI THƯƠNG MẠI HÓA</a:t>
            </a:r>
          </a:p>
          <a:p>
            <a:pPr>
              <a:lnSpc>
                <a:spcPct val="120000"/>
              </a:lnSpc>
              <a:spcAft>
                <a:spcPts val="300"/>
              </a:spcAft>
            </a:pPr>
            <a:r>
              <a:rPr sz="1000" b="1">
                <a:solidFill>
                  <a:srgbClr val="0F172A"/>
                </a:solidFill>
                <a:latin typeface="Arial"/>
              </a:rPr>
              <a:t>  • Giai đoạn 1 (Hiện tại - Đã xong): </a:t>
            </a:r>
            <a:r>
              <a:rPr sz="1000">
                <a:solidFill>
                  <a:srgbClr val="475569"/>
                </a:solidFill>
                <a:latin typeface="Arial"/>
              </a:rPr>
              <a:t>Hoàn thành 100% hệ thống phần mềm Full-Stack, AI Core ResNet-1D, 1D Grad-CAM, ONNX INT8.</a:t>
            </a:r>
          </a:p>
          <a:p>
            <a:pPr>
              <a:lnSpc>
                <a:spcPct val="120000"/>
              </a:lnSpc>
              <a:spcAft>
                <a:spcPts val="300"/>
              </a:spcAft>
            </a:pPr>
            <a:r>
              <a:rPr sz="1000" b="1">
                <a:solidFill>
                  <a:srgbClr val="0F172A"/>
                </a:solidFill>
                <a:latin typeface="Arial"/>
              </a:rPr>
              <a:t>  • Giai đoạn 2 (Tiếp theo): </a:t>
            </a:r>
            <a:r>
              <a:rPr sz="1000">
                <a:solidFill>
                  <a:srgbClr val="475569"/>
                </a:solidFill>
                <a:latin typeface="Arial"/>
              </a:rPr>
              <a:t>Tích hợp phần cứng cảm biến AD8232 / MAX30003 + vi điều khiển ESP32 gửi dữ liệu qua WiFi/MQTT và kiểm định ngưỡng AFDB.</a:t>
            </a:r>
          </a:p>
          <a:p>
            <a:pPr>
              <a:lnSpc>
                <a:spcPct val="120000"/>
              </a:lnSpc>
              <a:spcAft>
                <a:spcPts val="300"/>
              </a:spcAft>
            </a:pPr>
            <a:r>
              <a:rPr sz="1000" b="1">
                <a:solidFill>
                  <a:srgbClr val="0F172A"/>
                </a:solidFill>
                <a:latin typeface="Arial"/>
              </a:rPr>
              <a:t>  • Giai đoạn 3 (Ứng dụng thực địa): </a:t>
            </a:r>
            <a:r>
              <a:rPr sz="1000">
                <a:solidFill>
                  <a:srgbClr val="475569"/>
                </a:solidFill>
                <a:latin typeface="Arial"/>
              </a:rPr>
              <a:t>Thử nghiệm lâm sàng tại các khoa Tim mạch bệnh viện, tiến tới chứng nhận chuẩn thiết bị y tế SaMD.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TextBox 1"/>
          <p:cNvSpPr txBox="1"/>
          <p:nvPr/>
        </p:nvSpPr>
        <p:spPr>
          <a:xfrm>
            <a:off x="1097280" y="1097280"/>
            <a:ext cx="9966960" cy="4572000"/>
          </a:xfrm>
          <a:prstGeom prst="rect">
            <a:avLst/>
          </a:prstGeom>
          <a:noFill/>
        </p:spPr>
        <p:txBody>
          <a:bodyPr wrap="square">
            <a:spAutoFit/>
          </a:bodyPr>
          <a:lstStyle/>
          <a:p>
            <a:pPr>
              <a:spcAft>
                <a:spcPts val="1400"/>
              </a:spcAft>
              <a:defRPr sz="2400" b="1">
                <a:solidFill>
                  <a:srgbClr val="FFFFFF"/>
                </a:solidFill>
                <a:latin typeface="Arial"/>
              </a:defRPr>
            </a:pPr>
            <a:r>
              <a:t>KẾT LUẬN &amp; LỜI CẢM ƠN CHÂN THÀNH</a:t>
            </a:r>
          </a:p>
          <a:p>
            <a:pPr>
              <a:lnSpc>
                <a:spcPct val="130000"/>
              </a:lnSpc>
              <a:spcAft>
                <a:spcPts val="1800"/>
              </a:spcAft>
              <a:defRPr sz="1300">
                <a:solidFill>
                  <a:srgbClr val="E2E8F0"/>
                </a:solidFill>
                <a:latin typeface="Arial"/>
              </a:defRPr>
            </a:pPr>
            <a:r>
              <a:t>NEURO-ECG đã hoàn thành xuất sắc toàn bộ mục tiêu đề cương: Chính xác (98.57%), Siêu tốc (0.13ms), Minh bạch (1D Grad-CAM), Nhẹ cho Edge AI (ONNX 697KB), và An toàn pháp lý (Human-in-the-loop Audit Trail).</a:t>
            </a:r>
          </a:p>
          <a:p>
            <a:pPr>
              <a:lnSpc>
                <a:spcPct val="130000"/>
              </a:lnSpc>
              <a:spcAft>
                <a:spcPts val="2800"/>
              </a:spcAft>
              <a:defRPr sz="1200">
                <a:solidFill>
                  <a:srgbClr val="93C5FD"/>
                </a:solidFill>
                <a:latin typeface="Arial"/>
              </a:defRPr>
            </a:pPr>
            <a:r>
              <a:t>Nhóm xin bày tỏ lòng biết ơn sâu sắc tới Ban Giảng viên Chương trình Samsung Innovation Campus (SIC) 2026, các Thầy Cô giáo ĐH Bách Khoa Hà Nội và Tập đoàn Điện tử Samsung đã tận tình đào tạo và đồng hành!</a:t>
            </a:r>
          </a:p>
        </p:txBody>
      </p:sp>
      <p:sp>
        <p:nvSpPr>
          <p:cNvPr id="3" name="Rounded Rectangle 2"/>
          <p:cNvSpPr/>
          <p:nvPr/>
        </p:nvSpPr>
        <p:spPr>
          <a:xfrm>
            <a:off x="1097280" y="4114800"/>
            <a:ext cx="9966960" cy="1645920"/>
          </a:xfrm>
          <a:prstGeom prst="roundRect">
            <a:avLst/>
          </a:prstGeom>
          <a:solidFill>
            <a:srgbClr val="0F172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4297680"/>
            <a:ext cx="9418320" cy="1280160"/>
          </a:xfrm>
          <a:prstGeom prst="rect">
            <a:avLst/>
          </a:prstGeom>
          <a:noFill/>
        </p:spPr>
        <p:txBody>
          <a:bodyPr wrap="none">
            <a:spAutoFit/>
          </a:bodyPr>
          <a:lstStyle/>
          <a:p>
            <a:pPr algn="ctr">
              <a:defRPr sz="1600" b="1">
                <a:solidFill>
                  <a:srgbClr val="10B981"/>
                </a:solidFill>
                <a:latin typeface="Arial"/>
              </a:defRPr>
            </a:pPr>
            <a:r>
              <a:t>PHIÊN HỎI ĐÁP PHẢN BIỆN — Q &amp; A</a:t>
            </a:r>
          </a:p>
          <a:p>
            <a:pPr algn="ctr">
              <a:spcBef>
                <a:spcPts val="600"/>
              </a:spcBef>
              <a:defRPr sz="1200">
                <a:solidFill>
                  <a:srgbClr val="FFFFFF"/>
                </a:solidFill>
                <a:latin typeface="Arial"/>
              </a:defRPr>
            </a:pPr>
            <a:r>
              <a:t>Nhóm chúng em kính mời Hội đồng Giảng viên đặt câu hỏi và đóng góp ý kiến!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