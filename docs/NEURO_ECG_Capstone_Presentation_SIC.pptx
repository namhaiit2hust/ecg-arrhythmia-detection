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các Thầy trong Hội đồng Giảng viên Samsung Innovation Campus và ĐH Bách Khoa Hà Nội, hôm nay nhóm chúng em xin được trình bày báo cáo đồ án tốt nghiệp Capstone Project: Hệ thống giám sát ECG thời gian thực tích hợp Explainable AI (NEURO-ECG)...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Thưa các Thầy, AI đã đạt độ chính xác rất cao trên giấy tờ, nhưng bác sĩ vẫn chưa thể ứng dụng lâm sàng vì 2 rào cản: Tính 'hộp đen' khiến bác sĩ nghi ngờ, và sự thiếu hụt một hệ thống tích hợp chuẩn y tế. NEURO-ECG được thiết kế để giải quyết trọn vẹn cả hai rào cản này.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NEURO-ECG được định hình trên 5 trụ cột khép kín: Lõi AI đa mô hình dẫn đầu bởi ResNet-1D, tính năng giải thích trực quan Grad-CAM, chuỗi DSP y sinh Pan-Tompkins 97.14%, tối ưu lượng tử hóa Edge AI dưới 700KB và ứng dụng Full-Stack chuẩn y tế.</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Tuân thủ đúng quy trình WBS của Samsung SIC, nhóm em đã phân công chuyên biệt: Nam Hải phụ trách AI và Full-stack; Hải Yến phụ trách Dữ liệu, DSP và kiểm định y tế. Cả 6 Checkpoint đều đã hoàn thành 100% đúng hạn.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hoạt động theo đường ống 5 tầng liên hoàn: từ luồng 360Hz qua WebSocket, lọc DSP, suy luận ResNet-1D chỉ mất 0.13ms, điều phối cảnh báo đa tầng và hiển thị 60 FPS trên màn hình bác sĩ...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nổi bật ở slide này là tinh thần học thuật nghiêm túc: Nhóm phát hiện và sửa lỗi rò rỉ dữ liệu khi tách validation trước SMOTE. Val và Test chỉ lệch nhau 0.11%, chứng minh mô hình học thực chất. Thuật toán Pan-Tompkins tự cài đặt đạt F1 97.14%.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đã tự cài đặt và benchmark độc lập cả 5 kiến trúc hiện đại nhất. ResNet-1D chiến thắng toàn diện cả về Macro-F1 (91.70%) lẫn độ trễ siêu thấp (0.13ms), hoàn hảo cho hệ thống giám sát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Thuật toán 1D Grad-CAM giúp bác sĩ hiểu rõ nguyên nhân AI đưa ra cảnh báo: khi phát hiện ngoại tâm thu thất, vùng nhiệt đỏ rực tập trung đúng vào phức bộ QRS giãn rộng, hoàn toàn trùng khớp với chuyên môn đọc điện tim của bác sĩ.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Edge AI của dự án đã hoàn thành trọn vẹn: ONNX INT8 nén kích thước xuống 697.3 KB (giảm 74.5% dung lượng) mà độ chính xác chỉ suy giảm 0.67 điểm %. Mô hình hoàn toàn sẵn sàng nhúng vào thiết bị đeo thông minh.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tập kiểm thử 21,892 nhịp, mô hình đạt độ nhạy trên 96% ở lớp ngoại tâm thu thất. Khi chạy end-to-end trên tín hiệu thô của PhysioNet, độ chính xác vẫn duy trì trên 94%, khẳng định tính khả thi cao trong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backend được xây dựng chuẩn mực với FastAPI xử lý bất đồng bộ, stream 360Hz hai kênh song song. Cơ sở dữ liệu phân quyền 3 vai trò chặt chẽ và bảo mật bằng JWT HttpOnly Cookie.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y tế, tính năng Audit Trail và việc tuân thủ chuẩn an toàn báo động IEC 60601-1-8 là bắt buộc. Hệ thống của nhóm em được thiết kế chuẩn mực theo tư duy của một thiết bị y tế thực thụ.</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Chất lượng phần mềm của nhóm đạt 42/42 bài kiểm thử tự động với pytest, mã nguồn sạch hoàn toàn qua Ruff và Oxlint, đóng gói Docker Compose và CI/CD GitHub Actions sẵn sàng cho môi trường bệnh viện.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đây nhóm em xin phép chuyển sang màn hình trình duyệt để thực hiện trực tiếp 5 pha Live Demo trên hệ thống localhost:5173...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án mang lại tác động thực tiễn rõ rệt: Vừa là công cụ trợ lực hiệu quả cho bác sĩ tại phòng cấp cứu, vừa mở ra hướng phát triển các thiết bị đeo Holter thông minh tự chẩn đoán tại chỗ với chi phí rẻ.</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em không né tránh khuyết điểm: Khi kiểm nghiệm trên các bộ dữ liệu ngoại vi, lớp hiếm S và F bị tụt độ nhạy do khác biệt góc đo điện tim. Nhóm đã thử nghiệm fine-tune thành công lên 93.18% và xác định giải pháp triệt để là huấn luyện đa nguồn.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 đồ án Capstone này, cả hai thành viên trong nhóm đều thu hoạch được những kinh nghiệm công nghệ thực chiến quý giá. Nhóm đã vạch sẵn lộ trình 3 giai đoạn để tiếp tục đưa sản phẩm vào đời sống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đây là toàn bộ báo cáo đồ án tốt nghiệp Capstone Project của nhóm chúng em. Chúng em xin chân thành cảm ơn các Thầy và rất mong nhận được những câu hỏi phản biện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1097280" y="1280160"/>
            <a:ext cx="7315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9601200" cy="365760"/>
          </a:xfrm>
          <a:prstGeom prst="rect">
            <a:avLst/>
          </a:prstGeom>
          <a:noFill/>
        </p:spPr>
        <p:txBody>
          <a:bodyPr wrap="none">
            <a:spAutoFit/>
          </a:bodyPr>
          <a:lstStyle/>
          <a:p>
            <a:pPr>
              <a:defRPr sz="1200" b="1">
                <a:solidFill>
                  <a:srgbClr val="93C5FD"/>
                </a:solidFill>
                <a:latin typeface="Arial"/>
              </a:defRPr>
            </a:pPr>
            <a:r>
              <a:t>SAMSUNG INNOVATION CAMPUS (SIC) 2026 — ĐẠI HỌC BÁCH KHOA HÀ NỘI</a:t>
            </a:r>
          </a:p>
        </p:txBody>
      </p:sp>
      <p:sp>
        <p:nvSpPr>
          <p:cNvPr id="4" name="TextBox 3"/>
          <p:cNvSpPr txBox="1"/>
          <p:nvPr/>
        </p:nvSpPr>
        <p:spPr>
          <a:xfrm>
            <a:off x="1097280" y="1920240"/>
            <a:ext cx="10058400" cy="1828800"/>
          </a:xfrm>
          <a:prstGeom prst="rect">
            <a:avLst/>
          </a:prstGeom>
          <a:noFill/>
        </p:spPr>
        <p:txBody>
          <a:bodyPr wrap="square">
            <a:spAutoFit/>
          </a:bodyPr>
          <a:lstStyle/>
          <a:p>
            <a:pPr>
              <a:defRPr sz="2600" b="1">
                <a:solidFill>
                  <a:srgbClr val="FFFFFF"/>
                </a:solidFill>
                <a:latin typeface="Arial"/>
              </a:defRPr>
            </a:pPr>
            <a:r>
              <a:t>HỆ THỐNG GIÁM SÁT ECG THỜI GIAN THỰC TÍCH HỢP TRÍ TUỆ NHÂN TẠO GIẢI THÍCH ĐƯỢC VÀ HỖ TRỢ CHẨN ĐOÁN RỐI LOẠN NHỊP TIM ĐA TẦNG</a:t>
            </a:r>
          </a:p>
          <a:p>
            <a:pPr>
              <a:spcBef>
                <a:spcPts val="800"/>
              </a:spcBef>
              <a:defRPr sz="1400" i="1">
                <a:solidFill>
                  <a:srgbClr val="CBD5E1"/>
                </a:solidFill>
                <a:latin typeface="Arial"/>
              </a:defRPr>
            </a:pPr>
            <a:r>
              <a:t>NEURO-ECG: Real-Time Explainable AI ECG Arrhythmia Monitoring &amp; Clinical Support</a:t>
            </a:r>
          </a:p>
        </p:txBody>
      </p:sp>
      <p:sp>
        <p:nvSpPr>
          <p:cNvPr id="5" name="Rounded Rectangle 4"/>
          <p:cNvSpPr/>
          <p:nvPr/>
        </p:nvSpPr>
        <p:spPr>
          <a:xfrm>
            <a:off x="1097280" y="4389120"/>
            <a:ext cx="9966960" cy="1645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572000"/>
            <a:ext cx="9418320" cy="1280160"/>
          </a:xfrm>
          <a:prstGeom prst="rect">
            <a:avLst/>
          </a:prstGeom>
          <a:noFill/>
        </p:spPr>
        <p:txBody>
          <a:bodyPr wrap="none">
            <a:spAutoFit/>
          </a:bodyPr>
          <a:lstStyle/>
          <a:p>
            <a:pPr>
              <a:defRPr sz="1200" b="1">
                <a:solidFill>
                  <a:srgbClr val="FFFFFF"/>
                </a:solidFill>
                <a:latin typeface="Arial"/>
              </a:defRPr>
            </a:pPr>
            <a:r>
              <a:t>Sinh viên thực hiện: Nguyễn Đào Nam Hải (Trưởng nhóm - AI &amp; Full-Stack) · Phan Thị Hải Yến (Thành viên - Data &amp; DSP)</a:t>
            </a:r>
          </a:p>
          <a:p>
            <a:pPr>
              <a:spcBef>
                <a:spcPts val="400"/>
              </a:spcBef>
              <a:defRPr sz="1100">
                <a:solidFill>
                  <a:srgbClr val="94A3B8"/>
                </a:solidFill>
                <a:latin typeface="Arial"/>
              </a:defRPr>
            </a:pPr>
            <a:r>
              <a:t>Hội đồng hướng dẫn: Ban Giảng viên Samsung Innovation Campus (SIC) - HUST 2026</a:t>
            </a:r>
          </a:p>
          <a:p>
            <a:pPr>
              <a:spcBef>
                <a:spcPts val="400"/>
              </a:spcBef>
              <a:defRPr sz="1050">
                <a:solidFill>
                  <a:srgbClr val="10B981"/>
                </a:solidFill>
                <a:latin typeface="Arial"/>
              </a:defRPr>
            </a:pPr>
            <a:r>
              <a:t>Mã nguồn GitHub: https://github.com/NamHaiIT2HUST/ECG-Arrhythmia-Detection | Ngày bảo vệ: 31/10/2026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1: INTRODUCTION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1.1. Bối Cảnh Lâm Sàng &amp; Rào Cản Đưa AI Vào Y Tế</a:t>
            </a:r>
          </a:p>
          <a:p>
            <a:pPr>
              <a:defRPr sz="1100" i="1">
                <a:solidFill>
                  <a:srgbClr val="475569"/>
                </a:solidFill>
                <a:latin typeface="Arial"/>
              </a:defRPr>
            </a:pPr>
            <a:r>
              <a:t>Thực trạng đột tử tim mạch và 2 nút thắt cốt tử khiến AI chưa thể ứng dụng lâm sàng</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389120"/>
          </a:xfrm>
          <a:prstGeom prst="rect">
            <a:avLst/>
          </a:prstGeom>
          <a:noFill/>
        </p:spPr>
        <p:txBody>
          <a:bodyPr wrap="square">
            <a:spAutoFit/>
          </a:bodyPr>
          <a:lstStyle/>
          <a:p>
            <a:pPr>
              <a:lnSpc>
                <a:spcPct val="125000"/>
              </a:lnSpc>
              <a:spcAft>
                <a:spcPts val="600"/>
              </a:spcAft>
              <a:defRPr b="1" sz="1300">
                <a:solidFill>
                  <a:srgbClr val="EF4444"/>
                </a:solidFill>
              </a:defRPr>
            </a:pPr>
            <a:r>
              <a:t>THÁCH THỨC BỆNH LÝ TIM MẠCH</a:t>
            </a:r>
            <a:r>
              <a:rPr sz="1100" b="1">
                <a:solidFill>
                  <a:srgbClr val="0F172A"/>
                </a:solidFill>
                <a:latin typeface="Arial"/>
              </a:rPr>
              <a:t>Nguyên nhân tử vong hàng đầu: </a:t>
            </a:r>
            <a:r>
              <a:rPr sz="1100">
                <a:solidFill>
                  <a:srgbClr val="475569"/>
                </a:solidFill>
                <a:latin typeface="Arial"/>
              </a:rPr>
              <a:t>Rối loạn nhịp tim (Arrhythmia) gây đột tử tim mạch và tai biến mạch máu não.</a:t>
            </a:r>
          </a:p>
          <a:p>
            <a:pPr>
              <a:lnSpc>
                <a:spcPct val="125000"/>
              </a:lnSpc>
              <a:spcAft>
                <a:spcPts val="600"/>
              </a:spcAft>
            </a:pPr>
            <a:r>
              <a:rPr sz="1100" b="1">
                <a:solidFill>
                  <a:srgbClr val="0F172A"/>
                </a:solidFill>
                <a:latin typeface="Arial"/>
              </a:rPr>
              <a:t>Nguy cơ khẩn cấp: </a:t>
            </a:r>
            <a:r>
              <a:rPr sz="1100">
                <a:solidFill>
                  <a:srgbClr val="475569"/>
                </a:solidFill>
                <a:latin typeface="Arial"/>
              </a:rPr>
              <a:t>Ngoại tâm thu thất (PVC) và Rung nhĩ (AFib) diễn tiến âm thầm, cần giám sát liên tục 24/7.</a:t>
            </a:r>
          </a:p>
          <a:p>
            <a:pPr>
              <a:lnSpc>
                <a:spcPct val="125000"/>
              </a:lnSpc>
              <a:spcAft>
                <a:spcPts val="600"/>
              </a:spcAft>
            </a:pPr>
            <a:r>
              <a:rPr sz="1100" b="1">
                <a:solidFill>
                  <a:srgbClr val="0F172A"/>
                </a:solidFill>
                <a:latin typeface="Arial"/>
              </a:rPr>
              <a:t>Quá tải bác sĩ: </a:t>
            </a:r>
            <a:r>
              <a:rPr sz="1100">
                <a:solidFill>
                  <a:srgbClr val="475569"/>
                </a:solidFill>
                <a:latin typeface="Arial"/>
              </a:rPr>
              <a:t>Hàng triệu nhịp tim mỗi ngày trong phòng cấp cứu vượt quá năng lực đọc thủ công của chuyên gia y tế.</a:t>
            </a:r>
          </a:p>
        </p:txBody>
      </p:sp>
      <p:sp>
        <p:nvSpPr>
          <p:cNvPr id="6" name="Rounded Rectangle 5"/>
          <p:cNvSpPr/>
          <p:nvPr/>
        </p:nvSpPr>
        <p:spPr>
          <a:xfrm>
            <a:off x="6217920" y="146304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389120"/>
          </a:xfrm>
          <a:prstGeom prst="rect">
            <a:avLst/>
          </a:prstGeom>
          <a:noFill/>
        </p:spPr>
        <p:txBody>
          <a:bodyPr wrap="square">
            <a:spAutoFit/>
          </a:bodyPr>
          <a:lstStyle/>
          <a:p>
            <a:pPr>
              <a:lnSpc>
                <a:spcPct val="125000"/>
              </a:lnSpc>
              <a:spcAft>
                <a:spcPts val="600"/>
              </a:spcAft>
              <a:defRPr b="1" sz="1300">
                <a:solidFill>
                  <a:srgbClr val="1E3A8A"/>
                </a:solidFill>
              </a:defRPr>
            </a:pPr>
            <a:r>
              <a:t>2 RÀO CẢN CỐT TỬ CỦA AI TRONG Y TẾ</a:t>
            </a:r>
            <a:r>
              <a:rPr sz="1100" b="1">
                <a:solidFill>
                  <a:srgbClr val="0F172A"/>
                </a:solidFill>
                <a:latin typeface="Arial"/>
              </a:rPr>
              <a:t>1. Rào cản 'Hộp đen' (Black-Box): </a:t>
            </a:r>
            <a:r>
              <a:rPr sz="1100">
                <a:solidFill>
                  <a:srgbClr val="475569"/>
                </a:solidFill>
                <a:latin typeface="Arial"/>
              </a:rPr>
              <a:t>AI đưa ra cảnh báo nhưng bác sĩ không hiểu căn cứ bệnh học $_x000D_ightarrow$ Không dám tin tưởng sử dụng.</a:t>
            </a:r>
          </a:p>
          <a:p>
            <a:pPr>
              <a:lnSpc>
                <a:spcPct val="125000"/>
              </a:lnSpc>
              <a:spcAft>
                <a:spcPts val="600"/>
              </a:spcAft>
            </a:pPr>
            <a:r>
              <a:rPr sz="1100" b="1">
                <a:solidFill>
                  <a:srgbClr val="0F172A"/>
                </a:solidFill>
                <a:latin typeface="Arial"/>
              </a:rPr>
              <a:t>2. Thiếu chuỗi tích hợp y sinh hoàn chỉnh: </a:t>
            </a:r>
            <a:r>
              <a:rPr sz="1100">
                <a:solidFill>
                  <a:srgbClr val="475569"/>
                </a:solidFill>
                <a:latin typeface="Arial"/>
              </a:rPr>
              <a:t>Đa số nghiên cứu dừng lại ở Notebook rời rạc; thiếu DSP lọc nhiễu, thiếu WebSocket 360Hz độ trễ thấp và thiếu cơ chế truy vết trách nhiệm.</a:t>
            </a:r>
          </a:p>
          <a:p>
            <a:pPr>
              <a:lnSpc>
                <a:spcPct val="125000"/>
              </a:lnSpc>
              <a:spcAft>
                <a:spcPts val="600"/>
              </a:spcAft>
            </a:pPr>
            <a:r>
              <a:rPr sz="1100" b="1">
                <a:solidFill>
                  <a:srgbClr val="0F172A"/>
                </a:solidFill>
                <a:latin typeface="Arial"/>
              </a:rPr>
              <a:t>Giải pháp NEURO-ECG: </a:t>
            </a:r>
            <a:r>
              <a:rPr sz="1100">
                <a:solidFill>
                  <a:srgbClr val="475569"/>
                </a:solidFill>
                <a:latin typeface="Arial"/>
              </a:rPr>
              <a:t>Kết hợp Explainable AI (1D Grad-CAM) minh bạch hóa quyết định + Human-in-the-loop lưu vết kiểm toán y tế.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1: INTRODUCTION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1.2. Mục Tiêu Đề Tài: 5 Trụ Cột Của Hệ Thống NEURO-ECG</a:t>
            </a:r>
          </a:p>
          <a:p>
            <a:pPr>
              <a:defRPr sz="1100" i="1">
                <a:solidFill>
                  <a:srgbClr val="475569"/>
                </a:solidFill>
                <a:latin typeface="Arial"/>
              </a:defRPr>
            </a:pPr>
            <a:r>
              <a:t>Giải pháp toàn diện từ tầng xử lý tín hiệu số y sinh đến giao diện lâm sàng của bác sĩ</a:t>
            </a:r>
          </a:p>
        </p:txBody>
      </p:sp>
      <p:sp>
        <p:nvSpPr>
          <p:cNvPr id="4" name="Rounded Rectangle 3"/>
          <p:cNvSpPr/>
          <p:nvPr/>
        </p:nvSpPr>
        <p:spPr>
          <a:xfrm>
            <a:off x="731520" y="164592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05740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1783080" cy="3931920"/>
          </a:xfrm>
          <a:prstGeom prst="rect">
            <a:avLst/>
          </a:prstGeom>
          <a:noFill/>
        </p:spPr>
        <p:txBody>
          <a:bodyPr wrap="square">
            <a:spAutoFit/>
          </a:bodyPr>
          <a:lstStyle/>
          <a:p>
            <a:pPr>
              <a:spcAft>
                <a:spcPts val="1200"/>
              </a:spcAft>
              <a:defRPr b="1" sz="1150">
                <a:solidFill>
                  <a:srgbClr val="1E3A8A"/>
                </a:solidFill>
              </a:defRPr>
            </a:pPr>
            <a:r>
              <a:t>1. AI CORE ĐA MÔ HÌNH</a:t>
            </a:r>
          </a:p>
          <a:p>
            <a:pPr>
              <a:lnSpc>
                <a:spcPct val="130000"/>
              </a:lnSpc>
              <a:defRPr sz="1000">
                <a:solidFill>
                  <a:srgbClr val="0F172A"/>
                </a:solidFill>
              </a:defRPr>
            </a:pPr>
            <a:r>
              <a:t>Benchmark 5 kiến trúc 1D</a:t>
            </a:r>
            <a:br/>
            <a:r>
              <a:t>ResNet-1D đạt Acc 98.57%</a:t>
            </a:r>
            <a:br/>
            <a:r>
              <a:t>F1-Macro 91.70%, 0.13ms</a:t>
            </a:r>
          </a:p>
        </p:txBody>
      </p:sp>
      <p:sp>
        <p:nvSpPr>
          <p:cNvPr id="7" name="Rounded Rectangle 6"/>
          <p:cNvSpPr/>
          <p:nvPr/>
        </p:nvSpPr>
        <p:spPr>
          <a:xfrm>
            <a:off x="2907791" y="164592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907791" y="1645920"/>
            <a:ext cx="205740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44951" y="1920240"/>
            <a:ext cx="1783080" cy="3931920"/>
          </a:xfrm>
          <a:prstGeom prst="rect">
            <a:avLst/>
          </a:prstGeom>
          <a:noFill/>
        </p:spPr>
        <p:txBody>
          <a:bodyPr wrap="square">
            <a:spAutoFit/>
          </a:bodyPr>
          <a:lstStyle/>
          <a:p>
            <a:pPr>
              <a:spcAft>
                <a:spcPts val="1200"/>
              </a:spcAft>
              <a:defRPr b="1" sz="1150">
                <a:solidFill>
                  <a:srgbClr val="2563EB"/>
                </a:solidFill>
              </a:defRPr>
            </a:pPr>
            <a:r>
              <a:t>2. EXPLAINABLE AI</a:t>
            </a:r>
          </a:p>
          <a:p>
            <a:pPr>
              <a:lnSpc>
                <a:spcPct val="130000"/>
              </a:lnSpc>
              <a:defRPr sz="1000">
                <a:solidFill>
                  <a:srgbClr val="0F172A"/>
                </a:solidFill>
              </a:defRPr>
            </a:pPr>
            <a:r>
              <a:t>1D Grad-CAM trích xuất bản đồ nhiệt chú ý tại sóng P, QRS, T cho bác sĩ</a:t>
            </a:r>
          </a:p>
        </p:txBody>
      </p:sp>
      <p:sp>
        <p:nvSpPr>
          <p:cNvPr id="10" name="Rounded Rectangle 9"/>
          <p:cNvSpPr/>
          <p:nvPr/>
        </p:nvSpPr>
        <p:spPr>
          <a:xfrm>
            <a:off x="5084064" y="164592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4064" y="1645920"/>
            <a:ext cx="205740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1920240"/>
            <a:ext cx="1783080" cy="3931920"/>
          </a:xfrm>
          <a:prstGeom prst="rect">
            <a:avLst/>
          </a:prstGeom>
          <a:noFill/>
        </p:spPr>
        <p:txBody>
          <a:bodyPr wrap="square">
            <a:spAutoFit/>
          </a:bodyPr>
          <a:lstStyle/>
          <a:p>
            <a:pPr>
              <a:spcAft>
                <a:spcPts val="1200"/>
              </a:spcAft>
              <a:defRPr b="1" sz="1150">
                <a:solidFill>
                  <a:srgbClr val="10B981"/>
                </a:solidFill>
              </a:defRPr>
            </a:pPr>
            <a:r>
              <a:t>3. Y SINH &amp; DSP</a:t>
            </a:r>
          </a:p>
          <a:p>
            <a:pPr>
              <a:lnSpc>
                <a:spcPct val="130000"/>
              </a:lnSpc>
              <a:defRPr sz="1000">
                <a:solidFill>
                  <a:srgbClr val="0F172A"/>
                </a:solidFill>
              </a:defRPr>
            </a:pPr>
            <a:r>
              <a:t>Lọc Butterworth + Notch 50Hz</a:t>
            </a:r>
            <a:br/>
            <a:r>
              <a:t>Pan-Tompkins QRS F1=97.14%</a:t>
            </a:r>
            <a:br/>
            <a:r>
              <a:t>Sàng lọc Rung nhĩ (AFib)</a:t>
            </a:r>
          </a:p>
        </p:txBody>
      </p:sp>
      <p:sp>
        <p:nvSpPr>
          <p:cNvPr id="13" name="Rounded Rectangle 12"/>
          <p:cNvSpPr/>
          <p:nvPr/>
        </p:nvSpPr>
        <p:spPr>
          <a:xfrm>
            <a:off x="7260336" y="164592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60336" y="1645920"/>
            <a:ext cx="205740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7496" y="1920240"/>
            <a:ext cx="1783080" cy="3931920"/>
          </a:xfrm>
          <a:prstGeom prst="rect">
            <a:avLst/>
          </a:prstGeom>
          <a:noFill/>
        </p:spPr>
        <p:txBody>
          <a:bodyPr wrap="square">
            <a:spAutoFit/>
          </a:bodyPr>
          <a:lstStyle/>
          <a:p>
            <a:pPr>
              <a:spcAft>
                <a:spcPts val="1200"/>
              </a:spcAft>
              <a:defRPr b="1" sz="1150">
                <a:solidFill>
                  <a:srgbClr val="1E3A8A"/>
                </a:solidFill>
              </a:defRPr>
            </a:pPr>
            <a:r>
              <a:t>4. TỐI ƯU EDGE AI</a:t>
            </a:r>
          </a:p>
          <a:p>
            <a:pPr>
              <a:lnSpc>
                <a:spcPct val="130000"/>
              </a:lnSpc>
              <a:defRPr sz="1000">
                <a:solidFill>
                  <a:srgbClr val="0F172A"/>
                </a:solidFill>
              </a:defRPr>
            </a:pPr>
            <a:r>
              <a:t>ONNX INT8 nén 697.3 KB</a:t>
            </a:r>
            <a:br/>
            <a:r>
              <a:t>(Đạt chuẩn &lt; 700 KB nhúng)</a:t>
            </a:r>
            <a:br/>
            <a:r>
              <a:t>ONNX FP32 nhanh gấp 4 lần</a:t>
            </a:r>
          </a:p>
        </p:txBody>
      </p:sp>
      <p:sp>
        <p:nvSpPr>
          <p:cNvPr id="16" name="Rounded Rectangle 15"/>
          <p:cNvSpPr/>
          <p:nvPr/>
        </p:nvSpPr>
        <p:spPr>
          <a:xfrm>
            <a:off x="9436608" y="164592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436608" y="1645920"/>
            <a:ext cx="205740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3768" y="1920240"/>
            <a:ext cx="1783080" cy="3931920"/>
          </a:xfrm>
          <a:prstGeom prst="rect">
            <a:avLst/>
          </a:prstGeom>
          <a:noFill/>
        </p:spPr>
        <p:txBody>
          <a:bodyPr wrap="square">
            <a:spAutoFit/>
          </a:bodyPr>
          <a:lstStyle/>
          <a:p>
            <a:pPr>
              <a:spcAft>
                <a:spcPts val="1200"/>
              </a:spcAft>
              <a:defRPr b="1" sz="1150">
                <a:solidFill>
                  <a:srgbClr val="2563EB"/>
                </a:solidFill>
              </a:defRPr>
            </a:pPr>
            <a:r>
              <a:t>5. FULL-STACK Y TẾ</a:t>
            </a:r>
          </a:p>
          <a:p>
            <a:pPr>
              <a:lnSpc>
                <a:spcPct val="130000"/>
              </a:lnSpc>
              <a:defRPr sz="1000">
                <a:solidFill>
                  <a:srgbClr val="0F172A"/>
                </a:solidFill>
              </a:defRPr>
            </a:pPr>
            <a:r>
              <a:t>WebSocket 360Hz 2 kênh</a:t>
            </a:r>
            <a:br/>
            <a:r>
              <a:t>React 19 Plotly 60 FPS</a:t>
            </a:r>
            <a:br/>
            <a:r>
              <a:t>RBAC 3 vai trò, Audit Trail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1: INTRODUCTION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1.3 &amp; 1.4. Phân Công Vai Trò &amp; Tiến Độ Thực Hiện WBS</a:t>
            </a:r>
          </a:p>
          <a:p>
            <a:pPr>
              <a:defRPr sz="1100" i="1">
                <a:solidFill>
                  <a:srgbClr val="475569"/>
                </a:solidFill>
                <a:latin typeface="Arial"/>
              </a:defRPr>
            </a:pPr>
            <a:r>
              <a:t>Phân vai chuyên biệt và lộ trình 6 Checkpoints hoàn thành 100% đúng hạn</a:t>
            </a:r>
          </a:p>
        </p:txBody>
      </p:sp>
      <p:sp>
        <p:nvSpPr>
          <p:cNvPr id="4" name="Rounded Rectangle 3"/>
          <p:cNvSpPr/>
          <p:nvPr/>
        </p:nvSpPr>
        <p:spPr>
          <a:xfrm>
            <a:off x="731520" y="146304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920240"/>
          </a:xfrm>
          <a:prstGeom prst="rect">
            <a:avLst/>
          </a:prstGeom>
          <a:noFill/>
        </p:spPr>
        <p:txBody>
          <a:bodyPr wrap="square">
            <a:spAutoFit/>
          </a:bodyPr>
          <a:lstStyle/>
          <a:p>
            <a:pPr>
              <a:lnSpc>
                <a:spcPct val="125000"/>
              </a:lnSpc>
              <a:spcAft>
                <a:spcPts val="600"/>
              </a:spcAft>
              <a:defRPr b="1" sz="1200">
                <a:solidFill>
                  <a:srgbClr val="1E3A8A"/>
                </a:solidFill>
              </a:defRPr>
            </a:pPr>
            <a:r>
              <a:t>NGUYỄN ĐÀO NAM HẢI — Trưởng Nhóm</a:t>
            </a:r>
            <a:r>
              <a:rPr sz="1000" b="1">
                <a:solidFill>
                  <a:srgbClr val="0F172A"/>
                </a:solidFill>
                <a:latin typeface="Arial"/>
              </a:rPr>
              <a:t>AI Core: </a:t>
            </a:r>
            <a:r>
              <a:rPr sz="1000">
                <a:solidFill>
                  <a:srgbClr val="475569"/>
                </a:solidFill>
                <a:latin typeface="Arial"/>
              </a:rPr>
              <a:t>Benchmark 5 kiến trúc, 1D Grad-CAM, Lượng tử hóa ONNX INT8.</a:t>
            </a:r>
          </a:p>
          <a:p>
            <a:pPr>
              <a:lnSpc>
                <a:spcPct val="125000"/>
              </a:lnSpc>
              <a:spcAft>
                <a:spcPts val="600"/>
              </a:spcAft>
            </a:pPr>
            <a:r>
              <a:rPr sz="1000" b="1">
                <a:solidFill>
                  <a:srgbClr val="0F172A"/>
                </a:solidFill>
                <a:latin typeface="Arial"/>
              </a:rPr>
              <a:t>Full-Stack: </a:t>
            </a:r>
            <a:r>
              <a:rPr sz="1000">
                <a:solidFill>
                  <a:srgbClr val="475569"/>
                </a:solidFill>
                <a:latin typeface="Arial"/>
              </a:rPr>
              <a:t>Kiến trúc FastAPI, WebSocket 360Hz 2 kênh, React 19 Frontend.</a:t>
            </a:r>
          </a:p>
          <a:p>
            <a:pPr>
              <a:lnSpc>
                <a:spcPct val="125000"/>
              </a:lnSpc>
              <a:spcAft>
                <a:spcPts val="600"/>
              </a:spcAft>
            </a:pPr>
            <a:r>
              <a:rPr sz="1000" b="1">
                <a:solidFill>
                  <a:srgbClr val="0F172A"/>
                </a:solidFill>
                <a:latin typeface="Arial"/>
              </a:rPr>
              <a:t>Tích hợp: </a:t>
            </a:r>
            <a:r>
              <a:rPr sz="1000">
                <a:solidFill>
                  <a:srgbClr val="475569"/>
                </a:solidFill>
                <a:latin typeface="Arial"/>
              </a:rPr>
              <a:t>Hệ thống cảnh báo IEC 60601-1-8, Phân quyền RBAC, Docker.</a:t>
            </a:r>
          </a:p>
        </p:txBody>
      </p:sp>
      <p:sp>
        <p:nvSpPr>
          <p:cNvPr id="6" name="Rounded Rectangle 5"/>
          <p:cNvSpPr/>
          <p:nvPr/>
        </p:nvSpPr>
        <p:spPr>
          <a:xfrm>
            <a:off x="6217920" y="146304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1920240"/>
          </a:xfrm>
          <a:prstGeom prst="rect">
            <a:avLst/>
          </a:prstGeom>
          <a:noFill/>
        </p:spPr>
        <p:txBody>
          <a:bodyPr wrap="square">
            <a:spAutoFit/>
          </a:bodyPr>
          <a:lstStyle/>
          <a:p>
            <a:pPr>
              <a:lnSpc>
                <a:spcPct val="125000"/>
              </a:lnSpc>
              <a:spcAft>
                <a:spcPts val="600"/>
              </a:spcAft>
              <a:defRPr b="1" sz="1200">
                <a:solidFill>
                  <a:srgbClr val="2563EB"/>
                </a:solidFill>
              </a:defRPr>
            </a:pPr>
            <a:r>
              <a:t>PHAN THỊ HẢI YẾN — Thành Viên</a:t>
            </a:r>
            <a:r>
              <a:rPr sz="1000" b="1">
                <a:solidFill>
                  <a:srgbClr val="0F172A"/>
                </a:solidFill>
                <a:latin typeface="Arial"/>
              </a:rPr>
              <a:t>Dữ liệu y sinh: </a:t>
            </a:r>
            <a:r>
              <a:rPr sz="1000">
                <a:solidFill>
                  <a:srgbClr val="475569"/>
                </a:solidFill>
                <a:latin typeface="Arial"/>
              </a:rPr>
              <a:t>Kaggle CSV, PhysioNet WFDB, Cân bằng SMOTE, Validation Split.</a:t>
            </a:r>
          </a:p>
          <a:p>
            <a:pPr>
              <a:lnSpc>
                <a:spcPct val="125000"/>
              </a:lnSpc>
              <a:spcAft>
                <a:spcPts val="600"/>
              </a:spcAft>
            </a:pPr>
            <a:r>
              <a:rPr sz="1000" b="1">
                <a:solidFill>
                  <a:srgbClr val="0F172A"/>
                </a:solidFill>
                <a:latin typeface="Arial"/>
              </a:rPr>
              <a:t>Chuỗi DSP: </a:t>
            </a:r>
            <a:r>
              <a:rPr sz="1000">
                <a:solidFill>
                  <a:srgbClr val="475569"/>
                </a:solidFill>
                <a:latin typeface="Arial"/>
              </a:rPr>
              <a:t>Lọc thông dải Butterworth, Notch 50Hz, Pan-Tompkins QRS Detection.</a:t>
            </a:r>
          </a:p>
          <a:p>
            <a:pPr>
              <a:lnSpc>
                <a:spcPct val="125000"/>
              </a:lnSpc>
              <a:spcAft>
                <a:spcPts val="600"/>
              </a:spcAft>
            </a:pPr>
            <a:r>
              <a:rPr sz="1000" b="1">
                <a:solidFill>
                  <a:srgbClr val="0F172A"/>
                </a:solidFill>
                <a:latin typeface="Arial"/>
              </a:rPr>
              <a:t>Thẩm định &amp; QA: </a:t>
            </a:r>
            <a:r>
              <a:rPr sz="1000">
                <a:solidFill>
                  <a:srgbClr val="475569"/>
                </a:solidFill>
                <a:latin typeface="Arial"/>
              </a:rPr>
              <a:t>Đối chiếu chuẩn y tế AAMI EC57, Kiểm thử tự động và Báo cáo.</a:t>
            </a:r>
          </a:p>
        </p:txBody>
      </p:sp>
      <p:sp>
        <p:nvSpPr>
          <p:cNvPr id="8" name="Rounded Rectangle 7"/>
          <p:cNvSpPr/>
          <p:nvPr/>
        </p:nvSpPr>
        <p:spPr>
          <a:xfrm>
            <a:off x="731520" y="3931920"/>
            <a:ext cx="106984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10332720" cy="2103120"/>
          </a:xfrm>
          <a:prstGeom prst="rect">
            <a:avLst/>
          </a:prstGeom>
          <a:noFill/>
        </p:spPr>
        <p:txBody>
          <a:bodyPr wrap="square">
            <a:spAutoFit/>
          </a:bodyPr>
          <a:lstStyle/>
          <a:p>
            <a:pPr>
              <a:lnSpc>
                <a:spcPct val="125000"/>
              </a:lnSpc>
              <a:spcAft>
                <a:spcPts val="600"/>
              </a:spcAft>
              <a:defRPr b="1" sz="1150">
                <a:solidFill>
                  <a:srgbClr val="0F172A"/>
                </a:solidFill>
              </a:defRPr>
            </a:pPr>
            <a:r>
              <a:t>TIẾN ĐỘ WBS &amp; HOÀN THÀNH 6 CHECKPOINTS (100% ON-TRACK)</a:t>
            </a:r>
            <a:r>
              <a:rPr sz="1050" b="1">
                <a:solidFill>
                  <a:srgbClr val="0F172A"/>
                </a:solidFill>
                <a:latin typeface="Arial"/>
              </a:rPr>
              <a:t>Tuần 1–2 (CP1 - CP2): </a:t>
            </a:r>
            <a:r>
              <a:rPr sz="1050">
                <a:solidFill>
                  <a:srgbClr val="475569"/>
                </a:solidFill>
                <a:latin typeface="Arial"/>
              </a:rPr>
              <a:t>Xử lý dữ liệu MIT-BIH, SMOTE, Benchmark 5 model, 1D Grad-CAM, WebSocket core.</a:t>
            </a:r>
          </a:p>
          <a:p>
            <a:pPr>
              <a:lnSpc>
                <a:spcPct val="125000"/>
              </a:lnSpc>
              <a:spcAft>
                <a:spcPts val="600"/>
              </a:spcAft>
            </a:pPr>
            <a:r>
              <a:rPr sz="1050" b="1">
                <a:solidFill>
                  <a:srgbClr val="0F172A"/>
                </a:solidFill>
                <a:latin typeface="Arial"/>
              </a:rPr>
              <a:t>Tuần 3–4 (CP3 - CP4): </a:t>
            </a:r>
            <a:r>
              <a:rPr sz="1050">
                <a:solidFill>
                  <a:srgbClr val="475569"/>
                </a:solidFill>
                <a:latin typeface="Arial"/>
              </a:rPr>
              <a:t>Chuỗi DSP Pan-Tompkins (F1=97.14%), Báo động đa tầng chuẩn IEC 60601-1-8, Xuất PDF/CSV.</a:t>
            </a:r>
          </a:p>
          <a:p>
            <a:pPr>
              <a:lnSpc>
                <a:spcPct val="125000"/>
              </a:lnSpc>
              <a:spcAft>
                <a:spcPts val="600"/>
              </a:spcAft>
            </a:pPr>
            <a:r>
              <a:rPr sz="1050" b="1">
                <a:solidFill>
                  <a:srgbClr val="0F172A"/>
                </a:solidFill>
                <a:latin typeface="Arial"/>
              </a:rPr>
              <a:t>Tuần 5–6 (CP5 - CP6): </a:t>
            </a:r>
            <a:r>
              <a:rPr sz="1050">
                <a:solidFill>
                  <a:srgbClr val="475569"/>
                </a:solidFill>
                <a:latin typeface="Arial"/>
              </a:rPr>
              <a:t>Database SQLite/RBAC 3 vai trò, Human-in-the-loop Audit Trail, ONNX INT8, Test suite 42/42.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2: PROJECT EXECUTION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2.1. Kiến Trúc Dịch Vụ &amp; Luồng Dữ Liệu Thời Gian Thực</a:t>
            </a:r>
          </a:p>
          <a:p>
            <a:pPr>
              <a:defRPr sz="1100" i="1">
                <a:solidFill>
                  <a:srgbClr val="475569"/>
                </a:solidFill>
                <a:latin typeface="Arial"/>
              </a:defRPr>
            </a:pPr>
            <a:r>
              <a:t>Thiết kế Client-Server hướng dịch vụ vi mô với độ trễ truyền phát gói tin &lt; 5ms</a:t>
            </a:r>
          </a:p>
        </p:txBody>
      </p:sp>
      <p:sp>
        <p:nvSpPr>
          <p:cNvPr id="4" name="Rounded Rectangle 3"/>
          <p:cNvSpPr/>
          <p:nvPr/>
        </p:nvSpPr>
        <p:spPr>
          <a:xfrm>
            <a:off x="731520" y="146304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137160" cy="8686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10241280" cy="731520"/>
          </a:xfrm>
          <a:prstGeom prst="rect">
            <a:avLst/>
          </a:prstGeom>
          <a:noFill/>
        </p:spPr>
        <p:txBody>
          <a:bodyPr wrap="square">
            <a:spAutoFit/>
          </a:bodyPr>
          <a:lstStyle/>
          <a:p>
            <a:pPr>
              <a:defRPr b="1" sz="1100">
                <a:solidFill>
                  <a:srgbClr val="1E3A8A"/>
                </a:solidFill>
              </a:defRPr>
            </a:pPr>
            <a:r>
              <a:t>TẦNG 1: INGESTION (360Hz)</a:t>
            </a:r>
          </a:p>
          <a:p>
            <a:pPr>
              <a:spcBef>
                <a:spcPts val="200"/>
              </a:spcBef>
              <a:defRPr sz="1000">
                <a:solidFill>
                  <a:srgbClr val="0F172A"/>
                </a:solidFill>
              </a:defRPr>
            </a:pPr>
            <a:r>
              <a:t>Đọc dữ liệu thô 2 kênh (MLII + V1)  |  Đóng gói 36 gói tin/giây (10 mẫu/gói)  |  Phát luồng thời gian thực qua WebSocket</a:t>
            </a:r>
          </a:p>
        </p:txBody>
      </p:sp>
      <p:sp>
        <p:nvSpPr>
          <p:cNvPr id="7" name="Rounded Rectangle 6"/>
          <p:cNvSpPr/>
          <p:nvPr/>
        </p:nvSpPr>
        <p:spPr>
          <a:xfrm>
            <a:off x="731520" y="242316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423160"/>
            <a:ext cx="137160" cy="8686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96312"/>
            <a:ext cx="10241280" cy="731520"/>
          </a:xfrm>
          <a:prstGeom prst="rect">
            <a:avLst/>
          </a:prstGeom>
          <a:noFill/>
        </p:spPr>
        <p:txBody>
          <a:bodyPr wrap="square">
            <a:spAutoFit/>
          </a:bodyPr>
          <a:lstStyle/>
          <a:p>
            <a:pPr>
              <a:defRPr b="1" sz="1100">
                <a:solidFill>
                  <a:srgbClr val="2563EB"/>
                </a:solidFill>
              </a:defRPr>
            </a:pPr>
            <a:r>
              <a:t>TẦNG 2: TIỀN XỬ LÝ DSP</a:t>
            </a:r>
          </a:p>
          <a:p>
            <a:pPr>
              <a:spcBef>
                <a:spcPts val="200"/>
              </a:spcBef>
              <a:defRPr sz="1000">
                <a:solidFill>
                  <a:srgbClr val="0F172A"/>
                </a:solidFill>
              </a:defRPr>
            </a:pPr>
            <a:r>
              <a:t>Lọc dải thông Butterworth 0.5–45Hz  |  Lọc chắn dải Notch 50Hz (Q=30)  |  Pan-Tompkins QRS F1=97.14%</a:t>
            </a:r>
          </a:p>
        </p:txBody>
      </p:sp>
      <p:sp>
        <p:nvSpPr>
          <p:cNvPr id="10" name="Rounded Rectangle 9"/>
          <p:cNvSpPr/>
          <p:nvPr/>
        </p:nvSpPr>
        <p:spPr>
          <a:xfrm>
            <a:off x="731520" y="338328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383280"/>
            <a:ext cx="137160" cy="8686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456432"/>
            <a:ext cx="10241280" cy="731520"/>
          </a:xfrm>
          <a:prstGeom prst="rect">
            <a:avLst/>
          </a:prstGeom>
          <a:noFill/>
        </p:spPr>
        <p:txBody>
          <a:bodyPr wrap="square">
            <a:spAutoFit/>
          </a:bodyPr>
          <a:lstStyle/>
          <a:p>
            <a:pPr>
              <a:defRPr b="1" sz="1100">
                <a:solidFill>
                  <a:srgbClr val="1E3A8A"/>
                </a:solidFill>
              </a:defRPr>
            </a:pPr>
            <a:r>
              <a:t>TẦNG 3: AI INFERENCE (SINGLETON)</a:t>
            </a:r>
          </a:p>
          <a:p>
            <a:pPr>
              <a:spcBef>
                <a:spcPts val="200"/>
              </a:spcBef>
              <a:defRPr sz="1000">
                <a:solidFill>
                  <a:srgbClr val="0F172A"/>
                </a:solidFill>
              </a:defRPr>
            </a:pPr>
            <a:r>
              <a:t>Cắt cửa sổ 187 mẫu quanh đỉnh R  |  ResNet-1D / ONNX INT8 suy luận  |  Trả về nhãn, độ tin cậy và Grad-CAM</a:t>
            </a:r>
          </a:p>
        </p:txBody>
      </p:sp>
      <p:sp>
        <p:nvSpPr>
          <p:cNvPr id="13" name="Rounded Rectangle 12"/>
          <p:cNvSpPr/>
          <p:nvPr/>
        </p:nvSpPr>
        <p:spPr>
          <a:xfrm>
            <a:off x="731520" y="434340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343400"/>
            <a:ext cx="137160" cy="8686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16552"/>
            <a:ext cx="10241280" cy="731520"/>
          </a:xfrm>
          <a:prstGeom prst="rect">
            <a:avLst/>
          </a:prstGeom>
          <a:noFill/>
        </p:spPr>
        <p:txBody>
          <a:bodyPr wrap="square">
            <a:spAutoFit/>
          </a:bodyPr>
          <a:lstStyle/>
          <a:p>
            <a:pPr>
              <a:defRPr b="1" sz="1100">
                <a:solidFill>
                  <a:srgbClr val="EF4444"/>
                </a:solidFill>
              </a:defRPr>
            </a:pPr>
            <a:r>
              <a:t>TẦNG 4: ĐIỀU PHỐI CẢNH BÁO</a:t>
            </a:r>
          </a:p>
          <a:p>
            <a:pPr>
              <a:spcBef>
                <a:spcPts val="200"/>
              </a:spcBef>
              <a:defRPr sz="1000">
                <a:solidFill>
                  <a:srgbClr val="0F172A"/>
                </a:solidFill>
              </a:defRPr>
            </a:pPr>
            <a:r>
              <a:t>Phân tầng nguy cấp (Xanh/Vàng/Đỏ)  |  Chuông âm thanh &amp; Đèn chớp  |  Tắt chuông 2 phút chuẩn IEC 60601-1-8</a:t>
            </a:r>
          </a:p>
        </p:txBody>
      </p:sp>
      <p:sp>
        <p:nvSpPr>
          <p:cNvPr id="16" name="Rounded Rectangle 15"/>
          <p:cNvSpPr/>
          <p:nvPr/>
        </p:nvSpPr>
        <p:spPr>
          <a:xfrm>
            <a:off x="731520" y="530352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303520"/>
            <a:ext cx="13716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376672"/>
            <a:ext cx="10241280" cy="731520"/>
          </a:xfrm>
          <a:prstGeom prst="rect">
            <a:avLst/>
          </a:prstGeom>
          <a:noFill/>
        </p:spPr>
        <p:txBody>
          <a:bodyPr wrap="square">
            <a:spAutoFit/>
          </a:bodyPr>
          <a:lstStyle/>
          <a:p>
            <a:pPr>
              <a:defRPr b="1" sz="1100">
                <a:solidFill>
                  <a:srgbClr val="10B981"/>
                </a:solidFill>
              </a:defRPr>
            </a:pPr>
            <a:r>
              <a:t>TẦNG 5: GIAO DIỆN &amp; BÁC SĨ DUYỆT</a:t>
            </a:r>
          </a:p>
          <a:p>
            <a:pPr>
              <a:spcBef>
                <a:spcPts val="200"/>
              </a:spcBef>
              <a:defRPr sz="1000">
                <a:solidFill>
                  <a:srgbClr val="0F172A"/>
                </a:solidFill>
              </a:defRPr>
            </a:pPr>
            <a:r>
              <a:t>React 19 đồ thị sóng 60 FPS mượt mà  |  Bác sĩ duyệt/sửa nhãn (Human-in-the-loop)  |  Ghi nhận tự động vào Audit Trail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2: PROJECT EXECUTION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2.2. Xử Lý Tín Hiệu Y Sinh &amp; Khắc Phục Data Leakage</a:t>
            </a:r>
          </a:p>
          <a:p>
            <a:pPr>
              <a:defRPr sz="1100" i="1">
                <a:solidFill>
                  <a:srgbClr val="475569"/>
                </a:solidFill>
                <a:latin typeface="Arial"/>
              </a:defRPr>
            </a:pPr>
            <a:r>
              <a:t>Chuẩn hóa dữ liệu y sinh và bài học khắc phục rò rỉ dữ liệu khi kết hợp SMOTE</a:t>
            </a:r>
          </a:p>
        </p:txBody>
      </p:sp>
      <p:sp>
        <p:nvSpPr>
          <p:cNvPr id="4" name="Rounded Rectangle 3"/>
          <p:cNvSpPr/>
          <p:nvPr/>
        </p:nvSpPr>
        <p:spPr>
          <a:xfrm>
            <a:off x="731520" y="1463040"/>
            <a:ext cx="5486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389120"/>
          </a:xfrm>
          <a:prstGeom prst="rect">
            <a:avLst/>
          </a:prstGeom>
          <a:noFill/>
        </p:spPr>
        <p:txBody>
          <a:bodyPr wrap="square">
            <a:spAutoFit/>
          </a:bodyPr>
          <a:lstStyle/>
          <a:p>
            <a:pPr>
              <a:lnSpc>
                <a:spcPct val="125000"/>
              </a:lnSpc>
              <a:spcAft>
                <a:spcPts val="600"/>
              </a:spcAft>
              <a:defRPr b="1" sz="1200">
                <a:solidFill>
                  <a:srgbClr val="1E3A8A"/>
                </a:solidFill>
              </a:defRPr>
            </a:pPr>
            <a:r>
              <a:t>CHUỖI DSP &amp; PHÁT HIỆN ĐỈNH R</a:t>
            </a:r>
            <a:r>
              <a:rPr sz="1050" b="1">
                <a:solidFill>
                  <a:srgbClr val="0F172A"/>
                </a:solidFill>
                <a:latin typeface="Arial"/>
              </a:rPr>
              <a:t>Lọc thông dải Butterworth 0.5–45Hz: </a:t>
            </a:r>
            <a:r>
              <a:rPr sz="1050">
                <a:solidFill>
                  <a:srgbClr val="475569"/>
                </a:solidFill>
                <a:latin typeface="Arial"/>
              </a:rPr>
              <a:t>Khử nhiễu thở và nhiễu cơ EMG.</a:t>
            </a:r>
          </a:p>
          <a:p>
            <a:pPr>
              <a:lnSpc>
                <a:spcPct val="125000"/>
              </a:lnSpc>
              <a:spcAft>
                <a:spcPts val="600"/>
              </a:spcAft>
            </a:pPr>
            <a:r>
              <a:rPr sz="1050" b="1">
                <a:solidFill>
                  <a:srgbClr val="0F172A"/>
                </a:solidFill>
                <a:latin typeface="Arial"/>
              </a:rPr>
              <a:t>Lọc Notch 50Hz: </a:t>
            </a:r>
            <a:r>
              <a:rPr sz="1050">
                <a:solidFill>
                  <a:srgbClr val="475569"/>
                </a:solidFill>
                <a:latin typeface="Arial"/>
              </a:rPr>
              <a:t>Triệt tiêu can nhiễu điện lưới xoay chiều.</a:t>
            </a:r>
          </a:p>
          <a:p>
            <a:pPr>
              <a:lnSpc>
                <a:spcPct val="125000"/>
              </a:lnSpc>
              <a:spcAft>
                <a:spcPts val="600"/>
              </a:spcAft>
            </a:pPr>
            <a:r>
              <a:rPr sz="1050" b="1">
                <a:solidFill>
                  <a:srgbClr val="0F172A"/>
                </a:solidFill>
                <a:latin typeface="Arial"/>
              </a:rPr>
              <a:t>Pan-Tompkins QRS Detection: </a:t>
            </a:r>
            <a:r>
              <a:rPr sz="1050">
                <a:solidFill>
                  <a:srgbClr val="475569"/>
                </a:solidFill>
                <a:latin typeface="Arial"/>
              </a:rPr>
              <a:t>Vi phân -&gt; Bình phương -&gt; Tích phân cửa sổ động 150ms -&gt; Ngưỡng kép thích nghi nhịp.</a:t>
            </a:r>
          </a:p>
          <a:p>
            <a:pPr>
              <a:lnSpc>
                <a:spcPct val="125000"/>
              </a:lnSpc>
              <a:spcAft>
                <a:spcPts val="600"/>
              </a:spcAft>
            </a:pPr>
            <a:r>
              <a:rPr sz="1050" b="1">
                <a:solidFill>
                  <a:srgbClr val="0F172A"/>
                </a:solidFill>
                <a:latin typeface="Arial"/>
              </a:rPr>
              <a:t>Hiệu năng vượt trội: </a:t>
            </a:r>
            <a:r>
              <a:rPr sz="1050">
                <a:solidFill>
                  <a:srgbClr val="475569"/>
                </a:solidFill>
                <a:latin typeface="Arial"/>
              </a:rPr>
              <a:t>F1 đạt 97.14% trên 20,546 nhịp tim thô của 8 bản ghi PhysioNet (Record 100: 99.98%, Record 200: 99.56%).</a:t>
            </a:r>
          </a:p>
        </p:txBody>
      </p:sp>
      <p:sp>
        <p:nvSpPr>
          <p:cNvPr id="6" name="Rounded Rectangle 5"/>
          <p:cNvSpPr/>
          <p:nvPr/>
        </p:nvSpPr>
        <p:spPr>
          <a:xfrm>
            <a:off x="6492240" y="1463040"/>
            <a:ext cx="4937760" cy="23774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00200"/>
            <a:ext cx="4572000" cy="2103120"/>
          </a:xfrm>
          <a:prstGeom prst="rect">
            <a:avLst/>
          </a:prstGeom>
          <a:noFill/>
        </p:spPr>
        <p:txBody>
          <a:bodyPr wrap="square">
            <a:spAutoFit/>
          </a:bodyPr>
          <a:lstStyle/>
          <a:p>
            <a:pPr>
              <a:lnSpc>
                <a:spcPct val="125000"/>
              </a:lnSpc>
              <a:spcAft>
                <a:spcPts val="600"/>
              </a:spcAft>
              <a:defRPr b="1" sz="1150">
                <a:solidFill>
                  <a:srgbClr val="1E3A8A"/>
                </a:solidFill>
              </a:defRPr>
            </a:pPr>
            <a:r>
              <a:t>BÀI HỌC KỸ THUẬT: SỬA LỖI DATA LEAKAGE</a:t>
            </a:r>
            <a:r>
              <a:rPr sz="1000" b="1">
                <a:solidFill>
                  <a:srgbClr val="0F172A"/>
                </a:solidFill>
                <a:latin typeface="Arial"/>
              </a:rPr>
              <a:t>Lỗi ban đầu: </a:t>
            </a:r>
            <a:r>
              <a:rPr sz="1000">
                <a:solidFill>
                  <a:srgbClr val="475569"/>
                </a:solidFill>
                <a:latin typeface="Arial"/>
              </a:rPr>
              <a:t>Tách Validation sau SMOTE khiến Val Accuracy đạt 99.78% (ảo do trùng lặp mẫu láng giềng).</a:t>
            </a:r>
          </a:p>
          <a:p>
            <a:pPr>
              <a:lnSpc>
                <a:spcPct val="125000"/>
              </a:lnSpc>
              <a:spcAft>
                <a:spcPts val="600"/>
              </a:spcAft>
            </a:pPr>
            <a:r>
              <a:rPr sz="1000" b="1">
                <a:solidFill>
                  <a:srgbClr val="0F172A"/>
                </a:solidFill>
                <a:latin typeface="Arial"/>
              </a:rPr>
              <a:t>Giải pháp triệt để: </a:t>
            </a:r>
            <a:r>
              <a:rPr sz="1000">
                <a:solidFill>
                  <a:srgbClr val="475569"/>
                </a:solidFill>
                <a:latin typeface="Arial"/>
              </a:rPr>
              <a:t>Tách Stratified Validation (10%) TRƯỚC KHI SMOTE.</a:t>
            </a:r>
          </a:p>
          <a:p>
            <a:pPr>
              <a:lnSpc>
                <a:spcPct val="125000"/>
              </a:lnSpc>
              <a:spcAft>
                <a:spcPts val="600"/>
              </a:spcAft>
            </a:pPr>
            <a:r>
              <a:rPr sz="1000" b="1">
                <a:solidFill>
                  <a:srgbClr val="0F172A"/>
                </a:solidFill>
                <a:latin typeface="Arial"/>
              </a:rPr>
              <a:t>Kết quả thực chất: </a:t>
            </a:r>
            <a:r>
              <a:rPr sz="1000">
                <a:solidFill>
                  <a:srgbClr val="475569"/>
                </a:solidFill>
                <a:latin typeface="Arial"/>
              </a:rPr>
              <a:t>Val (98.62%) ≈ Test (98.51%), lệch 0.11%, chứng minh mô hình không overfit.</a:t>
            </a:r>
          </a:p>
        </p:txBody>
      </p:sp>
      <p:sp>
        <p:nvSpPr>
          <p:cNvPr id="8" name="Rounded Rectangle 7"/>
          <p:cNvSpPr/>
          <p:nvPr/>
        </p:nvSpPr>
        <p:spPr>
          <a:xfrm>
            <a:off x="6492240" y="4023360"/>
            <a:ext cx="23774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4023360"/>
            <a:ext cx="2377440" cy="2194560"/>
          </a:xfrm>
          <a:prstGeom prst="rect">
            <a:avLst/>
          </a:prstGeom>
          <a:noFill/>
        </p:spPr>
        <p:txBody>
          <a:bodyPr wrap="square" anchor="ctr">
            <a:spAutoFit/>
          </a:bodyPr>
          <a:lstStyle/>
          <a:p>
            <a:pPr algn="ctr">
              <a:defRPr sz="2400" b="1">
                <a:solidFill>
                  <a:srgbClr val="10B981"/>
                </a:solidFill>
                <a:latin typeface="Arial"/>
              </a:defRPr>
            </a:pPr>
            <a:r>
              <a:t>97.14%</a:t>
            </a:r>
          </a:p>
          <a:p>
            <a:pPr algn="ctr">
              <a:defRPr sz="1000">
                <a:solidFill>
                  <a:srgbClr val="475569"/>
                </a:solidFill>
                <a:latin typeface="Arial"/>
              </a:defRPr>
            </a:pPr>
            <a:r>
              <a:t>F1 Pan-Tompkins QRS</a:t>
            </a:r>
          </a:p>
        </p:txBody>
      </p:sp>
      <p:sp>
        <p:nvSpPr>
          <p:cNvPr id="10" name="Rounded Rectangle 9"/>
          <p:cNvSpPr/>
          <p:nvPr/>
        </p:nvSpPr>
        <p:spPr>
          <a:xfrm>
            <a:off x="9052560" y="4023360"/>
            <a:ext cx="23774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4023360"/>
            <a:ext cx="2377440" cy="2194560"/>
          </a:xfrm>
          <a:prstGeom prst="rect">
            <a:avLst/>
          </a:prstGeom>
          <a:noFill/>
        </p:spPr>
        <p:txBody>
          <a:bodyPr wrap="square" anchor="ctr">
            <a:spAutoFit/>
          </a:bodyPr>
          <a:lstStyle/>
          <a:p>
            <a:pPr algn="ctr">
              <a:defRPr sz="2400" b="1">
                <a:solidFill>
                  <a:srgbClr val="2563EB"/>
                </a:solidFill>
                <a:latin typeface="Arial"/>
              </a:defRPr>
            </a:pPr>
            <a:r>
              <a:t>0.11%</a:t>
            </a:r>
          </a:p>
          <a:p>
            <a:pPr algn="ctr">
              <a:defRPr sz="1000">
                <a:solidFill>
                  <a:srgbClr val="475569"/>
                </a:solidFill>
                <a:latin typeface="Arial"/>
              </a:defRPr>
            </a:pPr>
            <a:r>
              <a:t>Độ lệch Val - Test</a:t>
            </a:r>
            <a:br/>
            <a:r>
              <a:t>(Không Overfit)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2: PROJECT EXECUTION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2.3. Lõi AI: Benchmark 5 Kiến Trúc 1D &amp; Lựa Chọn ResNet-1D</a:t>
            </a:r>
          </a:p>
          <a:p>
            <a:pPr>
              <a:defRPr sz="1100" i="1">
                <a:solidFill>
                  <a:srgbClr val="475569"/>
                </a:solidFill>
                <a:latin typeface="Arial"/>
              </a:defRPr>
            </a:pPr>
            <a:r>
              <a:t>Thực nghiệm đối sánh độc lập 5 mô hình trên cùng tập dữ liệu Kaggle MIT-BIH</a:t>
            </a:r>
          </a:p>
        </p:txBody>
      </p:sp>
      <p:pic>
        <p:nvPicPr>
          <p:cNvPr id="4" name="Picture 3" descr="03_model_benchmark_comparison.png"/>
          <p:cNvPicPr>
            <a:picLocks noChangeAspect="1"/>
          </p:cNvPicPr>
          <p:nvPr/>
        </p:nvPicPr>
        <p:blipFill>
          <a:blip r:embed="rId2"/>
          <a:stretch>
            <a:fillRect/>
          </a:stretch>
        </p:blipFill>
        <p:spPr>
          <a:xfrm>
            <a:off x="731520" y="1463040"/>
            <a:ext cx="5669280" cy="4058226"/>
          </a:xfrm>
          <a:prstGeom prst="rect">
            <a:avLst/>
          </a:prstGeom>
        </p:spPr>
      </p:pic>
      <p:sp>
        <p:nvSpPr>
          <p:cNvPr id="5" name="Rounded Rectangle 4"/>
          <p:cNvSpPr/>
          <p:nvPr/>
        </p:nvSpPr>
        <p:spPr>
          <a:xfrm>
            <a:off x="6583680" y="1463040"/>
            <a:ext cx="4846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645920"/>
            <a:ext cx="4480560" cy="4389120"/>
          </a:xfrm>
          <a:prstGeom prst="rect">
            <a:avLst/>
          </a:prstGeom>
          <a:noFill/>
        </p:spPr>
        <p:txBody>
          <a:bodyPr wrap="square">
            <a:spAutoFit/>
          </a:bodyPr>
          <a:lstStyle/>
          <a:p>
            <a:pPr>
              <a:lnSpc>
                <a:spcPct val="125000"/>
              </a:lnSpc>
              <a:spcAft>
                <a:spcPts val="600"/>
              </a:spcAft>
              <a:defRPr b="1" sz="1200">
                <a:solidFill>
                  <a:srgbClr val="1E3A8A"/>
                </a:solidFill>
              </a:defRPr>
            </a:pPr>
            <a:r>
              <a:t>TẠI SAO CHỌN RESNET-1D LÀM MÔ HÌNH CHÍNH?</a:t>
            </a:r>
            <a:r>
              <a:rPr sz="1050" b="1">
                <a:solidFill>
                  <a:srgbClr val="0F172A"/>
                </a:solidFill>
                <a:latin typeface="Arial"/>
              </a:rPr>
              <a:t>Độ chính xác cao nhất: </a:t>
            </a:r>
            <a:r>
              <a:rPr sz="1050">
                <a:solidFill>
                  <a:srgbClr val="475569"/>
                </a:solidFill>
                <a:latin typeface="Arial"/>
              </a:rPr>
              <a:t>Accuracy 98.43% – 98.57%, Macro-F1 91.70% (vượt trội CNN-LSTM 85.8%, TCN 82.8%, Mamba 79.3%).</a:t>
            </a:r>
          </a:p>
          <a:p>
            <a:pPr>
              <a:lnSpc>
                <a:spcPct val="125000"/>
              </a:lnSpc>
              <a:spcAft>
                <a:spcPts val="600"/>
              </a:spcAft>
            </a:pPr>
            <a:r>
              <a:rPr sz="1050" b="1">
                <a:solidFill>
                  <a:srgbClr val="0F172A"/>
                </a:solidFill>
                <a:latin typeface="Arial"/>
              </a:rPr>
              <a:t>Độ trễ suy luận thấp nhất: </a:t>
            </a:r>
            <a:r>
              <a:rPr sz="1050">
                <a:solidFill>
                  <a:srgbClr val="475569"/>
                </a:solidFill>
                <a:latin typeface="Arial"/>
              </a:rPr>
              <a:t>Chỉ 0.133 ms/nhịp, thông lượng 7,546 nhịp/giây, tối ưu cho WebSocket real-time.</a:t>
            </a:r>
          </a:p>
          <a:p>
            <a:pPr>
              <a:lnSpc>
                <a:spcPct val="125000"/>
              </a:lnSpc>
              <a:spcAft>
                <a:spcPts val="600"/>
              </a:spcAft>
            </a:pPr>
            <a:r>
              <a:rPr sz="1050" b="1">
                <a:solidFill>
                  <a:srgbClr val="0F172A"/>
                </a:solidFill>
                <a:latin typeface="Arial"/>
              </a:rPr>
              <a:t>Kiến trúc Residual Block: </a:t>
            </a:r>
            <a:r>
              <a:rPr sz="1050">
                <a:solidFill>
                  <a:srgbClr val="475569"/>
                </a:solidFill>
                <a:latin typeface="Arial"/>
              </a:rPr>
              <a:t>Stem Conv1D -&gt; 3 khối Residual Blocks với Skip Connections tránh tiêu biến đạo hàm.</a:t>
            </a:r>
          </a:p>
          <a:p>
            <a:pPr>
              <a:lnSpc>
                <a:spcPct val="125000"/>
              </a:lnSpc>
              <a:spcAft>
                <a:spcPts val="600"/>
              </a:spcAft>
            </a:pPr>
            <a:r>
              <a:rPr sz="1050" b="1">
                <a:solidFill>
                  <a:srgbClr val="0F172A"/>
                </a:solidFill>
                <a:latin typeface="Arial"/>
              </a:rPr>
              <a:t>Hiệu năng lớp V (PVC): </a:t>
            </a:r>
            <a:r>
              <a:rPr sz="1050">
                <a:solidFill>
                  <a:srgbClr val="475569"/>
                </a:solidFill>
                <a:latin typeface="Arial"/>
              </a:rPr>
              <a:t>Đạt Recall 96.20% và F1 95.61% trên nhóm rối loạn nhịp nguy hiểm nhất.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2: PROJECT EXECUTION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2.4. Explainable AI: 1D Grad-CAM &amp; Sàng Lọc Rung Nhĩ</a:t>
            </a:r>
          </a:p>
          <a:p>
            <a:pPr>
              <a:defRPr sz="1100" i="1">
                <a:solidFill>
                  <a:srgbClr val="475569"/>
                </a:solidFill>
                <a:latin typeface="Arial"/>
              </a:defRPr>
            </a:pPr>
            <a:r>
              <a:t>Minh bạch hóa quyết định của AI trên từng đoạn sóng ECG và phát hiện nhịp điệu Rung nhĩ</a:t>
            </a:r>
          </a:p>
        </p:txBody>
      </p:sp>
      <p:pic>
        <p:nvPicPr>
          <p:cNvPr id="4" name="Picture 3" descr="06_gradcam_heatmaps_5_classes.png"/>
          <p:cNvPicPr>
            <a:picLocks noChangeAspect="1"/>
          </p:cNvPicPr>
          <p:nvPr/>
        </p:nvPicPr>
        <p:blipFill>
          <a:blip r:embed="rId2"/>
          <a:stretch>
            <a:fillRect/>
          </a:stretch>
        </p:blipFill>
        <p:spPr>
          <a:xfrm>
            <a:off x="731520" y="1463040"/>
            <a:ext cx="5669280" cy="7267332"/>
          </a:xfrm>
          <a:prstGeom prst="rect">
            <a:avLst/>
          </a:prstGeom>
        </p:spPr>
      </p:pic>
      <p:sp>
        <p:nvSpPr>
          <p:cNvPr id="5" name="Rounded Rectangle 4"/>
          <p:cNvSpPr/>
          <p:nvPr/>
        </p:nvSpPr>
        <p:spPr>
          <a:xfrm>
            <a:off x="6583680" y="1463040"/>
            <a:ext cx="4846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645920"/>
            <a:ext cx="4480560" cy="4389120"/>
          </a:xfrm>
          <a:prstGeom prst="rect">
            <a:avLst/>
          </a:prstGeom>
          <a:noFill/>
        </p:spPr>
        <p:txBody>
          <a:bodyPr wrap="square">
            <a:spAutoFit/>
          </a:bodyPr>
          <a:lstStyle/>
          <a:p>
            <a:pPr>
              <a:lnSpc>
                <a:spcPct val="125000"/>
              </a:lnSpc>
              <a:spcAft>
                <a:spcPts val="600"/>
              </a:spcAft>
              <a:defRPr b="1" sz="1200">
                <a:solidFill>
                  <a:srgbClr val="1E3A8A"/>
                </a:solidFill>
              </a:defRPr>
            </a:pPr>
            <a:r>
              <a:t>TƯƠNG QUAN LÂM SÀNG CỦA 1D GRAD-CAM</a:t>
            </a:r>
            <a:r>
              <a:rPr sz="1050" b="1">
                <a:solidFill>
                  <a:srgbClr val="0F172A"/>
                </a:solidFill>
                <a:latin typeface="Arial"/>
              </a:rPr>
              <a:t>Ngoại tâm thu thất (PVC - Lớp V): </a:t>
            </a:r>
            <a:r>
              <a:rPr sz="1050">
                <a:solidFill>
                  <a:srgbClr val="475569"/>
                </a:solidFill>
                <a:latin typeface="Arial"/>
              </a:rPr>
              <a:t>Bản đồ nhiệt tập trung &gt; 85% năng lượng vào phức bộ QRS giãn rộng (&gt; 120ms) và sóng T đảo chiều.</a:t>
            </a:r>
          </a:p>
          <a:p>
            <a:pPr>
              <a:lnSpc>
                <a:spcPct val="125000"/>
              </a:lnSpc>
              <a:spcAft>
                <a:spcPts val="600"/>
              </a:spcAft>
            </a:pPr>
            <a:r>
              <a:rPr sz="1050" b="1">
                <a:solidFill>
                  <a:srgbClr val="0F172A"/>
                </a:solidFill>
                <a:latin typeface="Arial"/>
              </a:rPr>
              <a:t>Ngoại tâm thu nhĩ (PAC - Lớp S): </a:t>
            </a:r>
            <a:r>
              <a:rPr sz="1050">
                <a:solidFill>
                  <a:srgbClr val="475569"/>
                </a:solidFill>
                <a:latin typeface="Arial"/>
              </a:rPr>
              <a:t>Trọng số kích hoạt mạnh tại vị trí sóng P biến dạng đến sớm.</a:t>
            </a:r>
          </a:p>
          <a:p>
            <a:pPr>
              <a:lnSpc>
                <a:spcPct val="125000"/>
              </a:lnSpc>
              <a:spcAft>
                <a:spcPts val="600"/>
              </a:spcAft>
            </a:pPr>
            <a:r>
              <a:rPr sz="1050" b="1">
                <a:solidFill>
                  <a:srgbClr val="0F172A"/>
                </a:solidFill>
                <a:latin typeface="Arial"/>
              </a:rPr>
              <a:t>Nhịp hợp nhất (Fusion - Lớp F): </a:t>
            </a:r>
            <a:r>
              <a:rPr sz="1050">
                <a:solidFill>
                  <a:srgbClr val="475569"/>
                </a:solidFill>
                <a:latin typeface="Arial"/>
              </a:rPr>
              <a:t>Bản đồ nhiệt phân bổ lưỡng cực tại cả chân sườn QRS và đoạn ST.</a:t>
            </a:r>
          </a:p>
          <a:p>
            <a:pPr>
              <a:lnSpc>
                <a:spcPct val="125000"/>
              </a:lnSpc>
              <a:spcAft>
                <a:spcPts val="600"/>
              </a:spcAft>
            </a:pPr>
            <a:r>
              <a:rPr sz="1050" b="1">
                <a:solidFill>
                  <a:srgbClr val="0F172A"/>
                </a:solidFill>
                <a:latin typeface="Arial"/>
              </a:rPr>
              <a:t>Module Sàng lọc Rung nhĩ (AFib): </a:t>
            </a:r>
            <a:r>
              <a:rPr sz="1050">
                <a:solidFill>
                  <a:srgbClr val="475569"/>
                </a:solidFill>
                <a:latin typeface="Arial"/>
              </a:rPr>
              <a:t>Phân tích rối loạn nhịp điệu kéo dài qua Shannon Entropy của dRR, CV_RR và pNN50; kích hoạt khi vượt ngưỡng 0.62.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2: PROJECT EXECUTION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2.5. Tối Ưu Hóa Nhúng Edge AI: ONNX INT8 Quantization</a:t>
            </a:r>
          </a:p>
          <a:p>
            <a:pPr>
              <a:defRPr sz="1100" i="1">
                <a:solidFill>
                  <a:srgbClr val="475569"/>
                </a:solidFill>
                <a:latin typeface="Arial"/>
              </a:defRPr>
            </a:pPr>
            <a:r>
              <a:t>Nén mô hình xuống dưới 700 KB sẵn sàng triển khai trên thiết bị đeo Holter IoT</a:t>
            </a:r>
          </a:p>
        </p:txBody>
      </p:sp>
      <p:pic>
        <p:nvPicPr>
          <p:cNvPr id="4" name="Picture 3" descr="10_onnx_quantization_comparison.png"/>
          <p:cNvPicPr>
            <a:picLocks noChangeAspect="1"/>
          </p:cNvPicPr>
          <p:nvPr/>
        </p:nvPicPr>
        <p:blipFill>
          <a:blip r:embed="rId2"/>
          <a:stretch>
            <a:fillRect/>
          </a:stretch>
        </p:blipFill>
        <p:spPr>
          <a:xfrm>
            <a:off x="731520" y="1463040"/>
            <a:ext cx="5669280" cy="3454102"/>
          </a:xfrm>
          <a:prstGeom prst="rect">
            <a:avLst/>
          </a:prstGeom>
        </p:spPr>
      </p:pic>
      <p:sp>
        <p:nvSpPr>
          <p:cNvPr id="5" name="Rounded Rectangle 4"/>
          <p:cNvSpPr/>
          <p:nvPr/>
        </p:nvSpPr>
        <p:spPr>
          <a:xfrm>
            <a:off x="6583680" y="1463040"/>
            <a:ext cx="48463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645920"/>
            <a:ext cx="4480560" cy="4389120"/>
          </a:xfrm>
          <a:prstGeom prst="rect">
            <a:avLst/>
          </a:prstGeom>
          <a:noFill/>
        </p:spPr>
        <p:txBody>
          <a:bodyPr wrap="square">
            <a:spAutoFit/>
          </a:bodyPr>
          <a:lstStyle/>
          <a:p>
            <a:pPr>
              <a:lnSpc>
                <a:spcPct val="125000"/>
              </a:lnSpc>
              <a:spcAft>
                <a:spcPts val="600"/>
              </a:spcAft>
              <a:defRPr b="1" sz="1200">
                <a:solidFill>
                  <a:srgbClr val="1E3A8A"/>
                </a:solidFill>
              </a:defRPr>
            </a:pPr>
            <a:r>
              <a:t>KẾT QUẢ LƯỢNG TỬ HÓA ONNX INT8</a:t>
            </a:r>
            <a:r>
              <a:rPr sz="1050" b="1">
                <a:solidFill>
                  <a:srgbClr val="0F172A"/>
                </a:solidFill>
                <a:latin typeface="Arial"/>
              </a:rPr>
              <a:t>Nén dung lượng 74.5%: </a:t>
            </a:r>
            <a:r>
              <a:rPr sz="1050">
                <a:solidFill>
                  <a:srgbClr val="475569"/>
                </a:solidFill>
                <a:latin typeface="Arial"/>
              </a:rPr>
              <a:t>Giảm từ 2,735.5 KB xuống 697.3 KB (Hoàn thành xuất sắc mục tiêu đề cương &lt; 700 KB).</a:t>
            </a:r>
          </a:p>
          <a:p>
            <a:pPr>
              <a:lnSpc>
                <a:spcPct val="125000"/>
              </a:lnSpc>
              <a:spcAft>
                <a:spcPts val="600"/>
              </a:spcAft>
            </a:pPr>
            <a:r>
              <a:rPr sz="1050" b="1">
                <a:solidFill>
                  <a:srgbClr val="0F172A"/>
                </a:solidFill>
                <a:latin typeface="Arial"/>
              </a:rPr>
              <a:t>Bảo toàn độ chính xác: </a:t>
            </a:r>
            <a:r>
              <a:rPr sz="1050">
                <a:solidFill>
                  <a:srgbClr val="475569"/>
                </a:solidFill>
                <a:latin typeface="Arial"/>
              </a:rPr>
              <a:t>Accuracy end-to-end chỉ rớt 0.67 điểm % (94.33% -&gt; 93.66%, nằm trong ngưỡng chấp nhận 2%).</a:t>
            </a:r>
          </a:p>
          <a:p>
            <a:pPr>
              <a:lnSpc>
                <a:spcPct val="125000"/>
              </a:lnSpc>
              <a:spcAft>
                <a:spcPts val="600"/>
              </a:spcAft>
            </a:pPr>
            <a:r>
              <a:rPr sz="1050" b="1">
                <a:solidFill>
                  <a:srgbClr val="0F172A"/>
                </a:solidFill>
                <a:latin typeface="Arial"/>
              </a:rPr>
              <a:t>Tăng tốc ONNX FP32: </a:t>
            </a:r>
            <a:r>
              <a:rPr sz="1050">
                <a:solidFill>
                  <a:srgbClr val="475569"/>
                </a:solidFill>
                <a:latin typeface="Arial"/>
              </a:rPr>
              <a:t>Đạt độ trễ 0.29 ms/nhịp (tăng tốc gần 4 lần so với PyTorch gốc trên CPU thông thường).</a:t>
            </a:r>
          </a:p>
          <a:p>
            <a:pPr>
              <a:lnSpc>
                <a:spcPct val="125000"/>
              </a:lnSpc>
              <a:spcAft>
                <a:spcPts val="600"/>
              </a:spcAft>
            </a:pPr>
            <a:r>
              <a:rPr sz="1050" b="1">
                <a:solidFill>
                  <a:srgbClr val="0F172A"/>
                </a:solidFill>
                <a:latin typeface="Arial"/>
              </a:rPr>
              <a:t>Sẵn sàng Edge Wearable: </a:t>
            </a:r>
            <a:r>
              <a:rPr sz="1050">
                <a:solidFill>
                  <a:srgbClr val="475569"/>
                </a:solidFill>
                <a:latin typeface="Arial"/>
              </a:rPr>
              <a:t>Dung lượng nhỏ cho phép nạp trực tiếp vào bộ nhớ flash vi điều khiển IoT (Raspberry Pi, Jetson Nano, ARM NEON).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3: RESULTS &amp; DEMONSTRATION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3.1. Kết Quả Thực Nghiệm &amp; Đo Lường Định Lượng</a:t>
            </a:r>
          </a:p>
          <a:p>
            <a:pPr>
              <a:defRPr sz="1100" i="1">
                <a:solidFill>
                  <a:srgbClr val="475569"/>
                </a:solidFill>
                <a:latin typeface="Arial"/>
              </a:defRPr>
            </a:pPr>
            <a:r>
              <a:t>Đánh giá toàn diện trên 21,892 nhịp test Kaggle và 20,546 nhịp tín hiệu thô PhysioNet</a:t>
            </a:r>
          </a:p>
        </p:txBody>
      </p:sp>
      <p:pic>
        <p:nvPicPr>
          <p:cNvPr id="4" name="Picture 3" descr="04_resnet1d_confusion_matrix.png"/>
          <p:cNvPicPr>
            <a:picLocks noChangeAspect="1"/>
          </p:cNvPicPr>
          <p:nvPr/>
        </p:nvPicPr>
        <p:blipFill>
          <a:blip r:embed="rId2"/>
          <a:stretch>
            <a:fillRect/>
          </a:stretch>
        </p:blipFill>
        <p:spPr>
          <a:xfrm>
            <a:off x="731520" y="1463040"/>
            <a:ext cx="5120640" cy="2256532"/>
          </a:xfrm>
          <a:prstGeom prst="rect">
            <a:avLst/>
          </a:prstGeom>
        </p:spPr>
      </p:pic>
      <p:sp>
        <p:nvSpPr>
          <p:cNvPr id="5" name="Rounded Rectangle 4"/>
          <p:cNvSpPr/>
          <p:nvPr/>
        </p:nvSpPr>
        <p:spPr>
          <a:xfrm>
            <a:off x="6217920" y="146304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46320" cy="4389120"/>
          </a:xfrm>
          <a:prstGeom prst="rect">
            <a:avLst/>
          </a:prstGeom>
          <a:noFill/>
        </p:spPr>
        <p:txBody>
          <a:bodyPr wrap="square">
            <a:spAutoFit/>
          </a:bodyPr>
          <a:lstStyle/>
          <a:p>
            <a:pPr>
              <a:lnSpc>
                <a:spcPct val="125000"/>
              </a:lnSpc>
              <a:spcAft>
                <a:spcPts val="600"/>
              </a:spcAft>
              <a:defRPr b="1" sz="1200">
                <a:solidFill>
                  <a:srgbClr val="1E3A8A"/>
                </a:solidFill>
              </a:defRPr>
            </a:pPr>
            <a:r>
              <a:t>CÁC CHỈ SỐ ĐỊNH LƯỢNG NGHIỆM THU</a:t>
            </a:r>
            <a:r>
              <a:rPr sz="1050" b="1">
                <a:solidFill>
                  <a:srgbClr val="0F172A"/>
                </a:solidFill>
                <a:latin typeface="Arial"/>
              </a:rPr>
              <a:t>Độ chính xác Kaggle Test: </a:t>
            </a:r>
            <a:r>
              <a:rPr sz="1050">
                <a:solidFill>
                  <a:srgbClr val="475569"/>
                </a:solidFill>
                <a:latin typeface="Arial"/>
              </a:rPr>
              <a:t>Accuracy 98.57%, Macro-F1 91.70% trên 21,892 nhịp test độc lập.</a:t>
            </a:r>
          </a:p>
          <a:p>
            <a:pPr>
              <a:lnSpc>
                <a:spcPct val="125000"/>
              </a:lnSpc>
              <a:spcAft>
                <a:spcPts val="600"/>
              </a:spcAft>
            </a:pPr>
            <a:r>
              <a:rPr sz="1050" b="1">
                <a:solidFill>
                  <a:srgbClr val="0F172A"/>
                </a:solidFill>
                <a:latin typeface="Arial"/>
              </a:rPr>
              <a:t>Lớp V (PVC - Nguy hiểm nhất): </a:t>
            </a:r>
            <a:r>
              <a:rPr sz="1050">
                <a:solidFill>
                  <a:srgbClr val="475569"/>
                </a:solidFill>
                <a:latin typeface="Arial"/>
              </a:rPr>
              <a:t>Precision 95.02%, Recall 96.20%, F1 95.61%.</a:t>
            </a:r>
          </a:p>
          <a:p>
            <a:pPr>
              <a:lnSpc>
                <a:spcPct val="125000"/>
              </a:lnSpc>
              <a:spcAft>
                <a:spcPts val="600"/>
              </a:spcAft>
            </a:pPr>
            <a:r>
              <a:rPr sz="1050" b="1">
                <a:solidFill>
                  <a:srgbClr val="0F172A"/>
                </a:solidFill>
                <a:latin typeface="Arial"/>
              </a:rPr>
              <a:t>Lớp N (Bình thường): </a:t>
            </a:r>
            <a:r>
              <a:rPr sz="1050">
                <a:solidFill>
                  <a:srgbClr val="475569"/>
                </a:solidFill>
                <a:latin typeface="Arial"/>
              </a:rPr>
              <a:t>Precision 99.21%, Recall 99.19%, F1 99.20%.</a:t>
            </a:r>
          </a:p>
          <a:p>
            <a:pPr>
              <a:lnSpc>
                <a:spcPct val="125000"/>
              </a:lnSpc>
              <a:spcAft>
                <a:spcPts val="600"/>
              </a:spcAft>
            </a:pPr>
            <a:r>
              <a:rPr sz="1050" b="1">
                <a:solidFill>
                  <a:srgbClr val="0F172A"/>
                </a:solidFill>
                <a:latin typeface="Arial"/>
              </a:rPr>
              <a:t>Đo lường End-to-End PhysioNet: </a:t>
            </a:r>
            <a:r>
              <a:rPr sz="1050">
                <a:solidFill>
                  <a:srgbClr val="475569"/>
                </a:solidFill>
                <a:latin typeface="Arial"/>
              </a:rPr>
              <a:t>Accuracy đạt 94.11% – 96.62% từ tín hiệu thô 360Hz qua Pan-Tompkins đến chẩn đoán AI so với nhãn bác sĩ (.atr).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3: RESULTS &amp; DEMONSTRATION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3.2. Hạ Tầng Backend FastAPI &amp; Cơ Sở Dữ Liệu RBAC</a:t>
            </a:r>
          </a:p>
          <a:p>
            <a:pPr>
              <a:defRPr sz="1100" i="1">
                <a:solidFill>
                  <a:srgbClr val="475569"/>
                </a:solidFill>
                <a:latin typeface="Arial"/>
              </a:defRPr>
            </a:pPr>
            <a:r>
              <a:t>Nền tảng streaming 360Hz 2 kênh song song kết hợp phân quyền bảo mật 3 vai trò</a:t>
            </a:r>
          </a:p>
        </p:txBody>
      </p:sp>
      <p:sp>
        <p:nvSpPr>
          <p:cNvPr id="4" name="Rounded Rectangle 3"/>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lnSpc>
                <a:spcPct val="125000"/>
              </a:lnSpc>
              <a:spcAft>
                <a:spcPts val="600"/>
              </a:spcAft>
              <a:defRPr b="1" sz="1200">
                <a:solidFill>
                  <a:srgbClr val="1E3A8A"/>
                </a:solidFill>
              </a:defRPr>
            </a:pPr>
            <a:r>
              <a:t>FASTAPI BACKEND &amp; WEBSOCKET 360Hz</a:t>
            </a:r>
            <a:r>
              <a:rPr sz="1050" b="1">
                <a:solidFill>
                  <a:srgbClr val="0F172A"/>
                </a:solidFill>
                <a:latin typeface="Arial"/>
              </a:rPr>
              <a:t>Streaming 360Hz 2 kênh đồng thời: </a:t>
            </a:r>
            <a:r>
              <a:rPr sz="1050">
                <a:solidFill>
                  <a:srgbClr val="475569"/>
                </a:solidFill>
                <a:latin typeface="Arial"/>
              </a:rPr>
              <a:t>Phát luồng song song kênh chẩn đoán chính (MLII) và tham chiếu (V1), 36 gói tin/giây, độ trễ &lt; 5ms.</a:t>
            </a:r>
          </a:p>
          <a:p>
            <a:pPr>
              <a:lnSpc>
                <a:spcPct val="125000"/>
              </a:lnSpc>
              <a:spcAft>
                <a:spcPts val="600"/>
              </a:spcAft>
            </a:pPr>
            <a:r>
              <a:rPr sz="1050" b="1">
                <a:solidFill>
                  <a:srgbClr val="0F172A"/>
                </a:solidFill>
                <a:latin typeface="Arial"/>
              </a:rPr>
              <a:t>Mẫu thiết kế Inference Singleton: </a:t>
            </a:r>
            <a:r>
              <a:rPr sz="1050">
                <a:solidFill>
                  <a:srgbClr val="475569"/>
                </a:solidFill>
                <a:latin typeface="Arial"/>
              </a:rPr>
              <a:t>Nạp mô hình 1 lần duy nhất lúc khởi động, loại bỏ hoàn toàn hiện tượng nghẽn RAM.</a:t>
            </a:r>
          </a:p>
          <a:p>
            <a:pPr>
              <a:lnSpc>
                <a:spcPct val="125000"/>
              </a:lnSpc>
              <a:spcAft>
                <a:spcPts val="600"/>
              </a:spcAft>
            </a:pPr>
            <a:r>
              <a:rPr sz="1050" b="1">
                <a:solidFill>
                  <a:srgbClr val="0F172A"/>
                </a:solidFill>
                <a:latin typeface="Arial"/>
              </a:rPr>
              <a:t>Theo dõi huyết động học: </a:t>
            </a:r>
            <a:r>
              <a:rPr sz="1050">
                <a:solidFill>
                  <a:srgbClr val="475569"/>
                </a:solidFill>
                <a:latin typeface="Arial"/>
              </a:rPr>
              <a:t>Tính toán liên tục nhịp tim (BPM) và biến thiên nhịp tim HRV (RMSSD, SDNN) trên cửa sổ trượt 30 giây.</a:t>
            </a:r>
          </a:p>
        </p:txBody>
      </p:sp>
      <p:sp>
        <p:nvSpPr>
          <p:cNvPr id="6" name="Rounded Rectangle 5"/>
          <p:cNvSpPr/>
          <p:nvPr/>
        </p:nvSpPr>
        <p:spPr>
          <a:xfrm>
            <a:off x="6217920" y="146304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lnSpc>
                <a:spcPct val="125000"/>
              </a:lnSpc>
              <a:spcAft>
                <a:spcPts val="600"/>
              </a:spcAft>
              <a:defRPr b="1" sz="1200">
                <a:solidFill>
                  <a:srgbClr val="2563EB"/>
                </a:solidFill>
              </a:defRPr>
            </a:pPr>
            <a:r>
              <a:t>DATABASE &amp; PHÂN QUYỀN RBAC 3 VAI TRÒ</a:t>
            </a:r>
            <a:r>
              <a:rPr sz="1050" b="1">
                <a:solidFill>
                  <a:srgbClr val="0F172A"/>
                </a:solidFill>
                <a:latin typeface="Arial"/>
              </a:rPr>
              <a:t>5 Bảng thực thể chuẩn: </a:t>
            </a:r>
            <a:r>
              <a:rPr sz="1050">
                <a:solidFill>
                  <a:srgbClr val="475569"/>
                </a:solidFill>
                <a:latin typeface="Arial"/>
              </a:rPr>
              <a:t>users, patients, ecg_records, anomaly_events, audit_trails (SQLite / PostgreSQL).</a:t>
            </a:r>
          </a:p>
          <a:p>
            <a:pPr>
              <a:lnSpc>
                <a:spcPct val="125000"/>
              </a:lnSpc>
              <a:spcAft>
                <a:spcPts val="600"/>
              </a:spcAft>
            </a:pPr>
            <a:r>
              <a:rPr sz="1050" b="1">
                <a:solidFill>
                  <a:srgbClr val="0F172A"/>
                </a:solidFill>
                <a:latin typeface="Arial"/>
              </a:rPr>
              <a:t>Bảo mật JWT HttpOnly: </a:t>
            </a:r>
            <a:r>
              <a:rPr sz="1050">
                <a:solidFill>
                  <a:srgbClr val="475569"/>
                </a:solidFill>
                <a:latin typeface="Arial"/>
              </a:rPr>
              <a:t>Mã phiên lưu trong Secure Cookie, triệt tiêu hoàn toàn nguy cơ tấn công đánh cắp XSS.</a:t>
            </a:r>
          </a:p>
          <a:p>
            <a:pPr>
              <a:lnSpc>
                <a:spcPct val="125000"/>
              </a:lnSpc>
              <a:spcAft>
                <a:spcPts val="600"/>
              </a:spcAft>
            </a:pPr>
            <a:r>
              <a:rPr sz="1050" b="1">
                <a:solidFill>
                  <a:srgbClr val="0F172A"/>
                </a:solidFill>
                <a:latin typeface="Arial"/>
              </a:rPr>
              <a:t>Phân quyền 3 vai trò: </a:t>
            </a:r>
            <a:r>
              <a:rPr sz="1050">
                <a:solidFill>
                  <a:srgbClr val="475569"/>
                </a:solidFill>
                <a:latin typeface="Arial"/>
              </a:rPr>
              <a:t>Admin (toàn quyền, cấu hình), Doctor (chẩn đoán, duyệt/sửa nhãn, xuất PDF), Nurse (giám sát, không sửa nhãn).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3: RESULTS &amp; DEMONSTRATION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3.3. Tính Năng Y Tế: Human-in-the-Loop &amp; Chuẩn IEC 60601-1-8</a:t>
            </a:r>
          </a:p>
          <a:p>
            <a:pPr>
              <a:defRPr sz="1100" i="1">
                <a:solidFill>
                  <a:srgbClr val="475569"/>
                </a:solidFill>
                <a:latin typeface="Arial"/>
              </a:defRPr>
            </a:pPr>
            <a:r>
              <a:t>Truy vết trách nhiệm pháp lý y khoa qua Audit Trail và an toàn báo động cấp cứu</a:t>
            </a:r>
          </a:p>
        </p:txBody>
      </p:sp>
      <p:sp>
        <p:nvSpPr>
          <p:cNvPr id="4" name="Rounded Rectangle 3"/>
          <p:cNvSpPr/>
          <p:nvPr/>
        </p:nvSpPr>
        <p:spPr>
          <a:xfrm>
            <a:off x="731520" y="146304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square">
            <a:spAutoFit/>
          </a:bodyPr>
          <a:lstStyle/>
          <a:p>
            <a:pPr>
              <a:lnSpc>
                <a:spcPct val="125000"/>
              </a:lnSpc>
              <a:spcAft>
                <a:spcPts val="600"/>
              </a:spcAft>
              <a:defRPr b="1" sz="1200">
                <a:solidFill>
                  <a:srgbClr val="1E3A8A"/>
                </a:solidFill>
              </a:defRPr>
            </a:pPr>
            <a:r>
              <a:t>HUMAN-IN-THE-LOOP</a:t>
            </a:r>
            <a:r>
              <a:rPr sz="1000" b="1">
                <a:solidFill>
                  <a:srgbClr val="0F172A"/>
                </a:solidFill>
                <a:latin typeface="Arial"/>
              </a:rPr>
              <a:t>AI chỉ là công cụ hỗ trợ: </a:t>
            </a:r>
            <a:r>
              <a:rPr sz="1000">
                <a:solidFill>
                  <a:srgbClr val="475569"/>
                </a:solidFill>
                <a:latin typeface="Arial"/>
              </a:rPr>
              <a:t>Quyết định cuối cùng thuộc về Bác sĩ.</a:t>
            </a:r>
          </a:p>
          <a:p>
            <a:pPr>
              <a:lnSpc>
                <a:spcPct val="125000"/>
              </a:lnSpc>
              <a:spcAft>
                <a:spcPts val="600"/>
              </a:spcAft>
            </a:pPr>
            <a:r>
              <a:rPr sz="1000" b="1">
                <a:solidFill>
                  <a:srgbClr val="0F172A"/>
                </a:solidFill>
                <a:latin typeface="Arial"/>
              </a:rPr>
              <a:t>Thẩm định nhãn: </a:t>
            </a:r>
            <a:r>
              <a:rPr sz="1000">
                <a:solidFill>
                  <a:srgbClr val="475569"/>
                </a:solidFill>
                <a:latin typeface="Arial"/>
              </a:rPr>
              <a:t>Bác sĩ có quyền Xác nhận hoặc Ghi đè (Override) nhãn của AI kèm ghi chú lâm sàng.</a:t>
            </a:r>
          </a:p>
          <a:p>
            <a:pPr>
              <a:lnSpc>
                <a:spcPct val="125000"/>
              </a:lnSpc>
              <a:spcAft>
                <a:spcPts val="600"/>
              </a:spcAft>
            </a:pPr>
            <a:r>
              <a:rPr sz="1000" b="1">
                <a:solidFill>
                  <a:srgbClr val="0F172A"/>
                </a:solidFill>
                <a:latin typeface="Arial"/>
              </a:rPr>
              <a:t>API xác thực: </a:t>
            </a:r>
            <a:r>
              <a:rPr sz="1000">
                <a:solidFill>
                  <a:srgbClr val="475569"/>
                </a:solidFill>
                <a:latin typeface="Arial"/>
              </a:rPr>
              <a:t>Endpoint POST /api/anomalies/{id}/verify.</a:t>
            </a:r>
          </a:p>
        </p:txBody>
      </p:sp>
      <p:sp>
        <p:nvSpPr>
          <p:cNvPr id="6" name="Rounded Rectangle 5"/>
          <p:cNvSpPr/>
          <p:nvPr/>
        </p:nvSpPr>
        <p:spPr>
          <a:xfrm>
            <a:off x="4389120" y="146304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square">
            <a:spAutoFit/>
          </a:bodyPr>
          <a:lstStyle/>
          <a:p>
            <a:pPr>
              <a:lnSpc>
                <a:spcPct val="125000"/>
              </a:lnSpc>
              <a:spcAft>
                <a:spcPts val="600"/>
              </a:spcAft>
              <a:defRPr b="1" sz="1200">
                <a:solidFill>
                  <a:srgbClr val="2563EB"/>
                </a:solidFill>
              </a:defRPr>
            </a:pPr>
            <a:r>
              <a:t>AUDIT TRAIL PHÁP LÝ</a:t>
            </a:r>
            <a:r>
              <a:rPr sz="1000" b="1">
                <a:solidFill>
                  <a:srgbClr val="0F172A"/>
                </a:solidFill>
                <a:latin typeface="Arial"/>
              </a:rPr>
              <a:t>Lưu vết bất biến: </a:t>
            </a:r>
            <a:r>
              <a:rPr sz="1000">
                <a:solidFill>
                  <a:srgbClr val="475569"/>
                </a:solidFill>
                <a:latin typeface="Arial"/>
              </a:rPr>
              <a:t>Mọi can thiệp sửa nhãn đều tự động lưu vào bảng audit_trails.</a:t>
            </a:r>
          </a:p>
          <a:p>
            <a:pPr>
              <a:lnSpc>
                <a:spcPct val="125000"/>
              </a:lnSpc>
              <a:spcAft>
                <a:spcPts val="600"/>
              </a:spcAft>
            </a:pPr>
            <a:r>
              <a:rPr sz="1000" b="1">
                <a:solidFill>
                  <a:srgbClr val="0F172A"/>
                </a:solidFill>
                <a:latin typeface="Arial"/>
              </a:rPr>
              <a:t>Thông tin kiểm toán: </a:t>
            </a:r>
            <a:r>
              <a:rPr sz="1000">
                <a:solidFill>
                  <a:srgbClr val="475569"/>
                </a:solidFill>
                <a:latin typeface="Arial"/>
              </a:rPr>
              <a:t>Dấu thời gian chính xác, ID bác sĩ, nhãn AI ban đầu, nhãn mới sửa, lý do y khoa.</a:t>
            </a:r>
          </a:p>
          <a:p>
            <a:pPr>
              <a:lnSpc>
                <a:spcPct val="125000"/>
              </a:lnSpc>
              <a:spcAft>
                <a:spcPts val="600"/>
              </a:spcAft>
            </a:pPr>
            <a:r>
              <a:rPr sz="1000" b="1">
                <a:solidFill>
                  <a:srgbClr val="0F172A"/>
                </a:solidFill>
                <a:latin typeface="Arial"/>
              </a:rPr>
              <a:t>Phục vụ thanh tra y tế: </a:t>
            </a:r>
            <a:r>
              <a:rPr sz="1000">
                <a:solidFill>
                  <a:srgbClr val="475569"/>
                </a:solidFill>
                <a:latin typeface="Arial"/>
              </a:rPr>
              <a:t>Đảm bảo tính minh bạch pháp lý tuyệt đối.</a:t>
            </a:r>
          </a:p>
        </p:txBody>
      </p:sp>
      <p:sp>
        <p:nvSpPr>
          <p:cNvPr id="8" name="Rounded Rectangle 7"/>
          <p:cNvSpPr/>
          <p:nvPr/>
        </p:nvSpPr>
        <p:spPr>
          <a:xfrm>
            <a:off x="8046720" y="1463040"/>
            <a:ext cx="33832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389120"/>
          </a:xfrm>
          <a:prstGeom prst="rect">
            <a:avLst/>
          </a:prstGeom>
          <a:noFill/>
        </p:spPr>
        <p:txBody>
          <a:bodyPr wrap="square">
            <a:spAutoFit/>
          </a:bodyPr>
          <a:lstStyle/>
          <a:p>
            <a:pPr>
              <a:lnSpc>
                <a:spcPct val="125000"/>
              </a:lnSpc>
              <a:spcAft>
                <a:spcPts val="600"/>
              </a:spcAft>
              <a:defRPr b="1" sz="1200">
                <a:solidFill>
                  <a:srgbClr val="EF4444"/>
                </a:solidFill>
              </a:defRPr>
            </a:pPr>
            <a:r>
              <a:t>CHUẨN IEC 60601-1-8</a:t>
            </a:r>
            <a:r>
              <a:rPr sz="1000" b="1">
                <a:solidFill>
                  <a:srgbClr val="0F172A"/>
                </a:solidFill>
                <a:latin typeface="Arial"/>
              </a:rPr>
              <a:t>Báo động 3 cấp độ: </a:t>
            </a:r>
            <a:r>
              <a:rPr sz="1000">
                <a:solidFill>
                  <a:srgbClr val="475569"/>
                </a:solidFill>
                <a:latin typeface="Arial"/>
              </a:rPr>
              <a:t>Xanh (Bình thường) -&gt; Vàng (Chú ý) -&gt; Đỏ (Nguy cấp).</a:t>
            </a:r>
          </a:p>
          <a:p>
            <a:pPr>
              <a:lnSpc>
                <a:spcPct val="125000"/>
              </a:lnSpc>
              <a:spcAft>
                <a:spcPts val="600"/>
              </a:spcAft>
            </a:pPr>
            <a:r>
              <a:rPr sz="1000" b="1">
                <a:solidFill>
                  <a:srgbClr val="0F172A"/>
                </a:solidFill>
                <a:latin typeface="Arial"/>
              </a:rPr>
              <a:t>Tắt chuông an toàn: </a:t>
            </a:r>
            <a:r>
              <a:rPr sz="1000">
                <a:solidFill>
                  <a:srgbClr val="475569"/>
                </a:solidFill>
                <a:latin typeface="Arial"/>
              </a:rPr>
              <a:t>Nút Mute tạm thời 2 phút, tự bật lại nếu nguy cơ bệnh lý chưa giải quyết theo chuẩn quốc tế.</a:t>
            </a:r>
          </a:p>
          <a:p>
            <a:pPr>
              <a:lnSpc>
                <a:spcPct val="125000"/>
              </a:lnSpc>
              <a:spcAft>
                <a:spcPts val="600"/>
              </a:spcAft>
            </a:pPr>
            <a:r>
              <a:rPr sz="1000" b="1">
                <a:solidFill>
                  <a:srgbClr val="0F172A"/>
                </a:solidFill>
                <a:latin typeface="Arial"/>
              </a:rPr>
              <a:t>Xuất báo cáo PDF: </a:t>
            </a:r>
            <a:r>
              <a:rPr sz="1000">
                <a:solidFill>
                  <a:srgbClr val="475569"/>
                </a:solidFill>
                <a:latin typeface="Arial"/>
              </a:rPr>
              <a:t>Tạo file bệnh án PDF kèm đồ thị sóng và chữ ký số bác sĩ.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3: RESULTS &amp; DEMONSTRATION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3.4. Kiểm Thử Tự Động, Chất Lượng Mã &amp; Đóng Gói DevOps</a:t>
            </a:r>
          </a:p>
          <a:p>
            <a:pPr>
              <a:defRPr sz="1100" i="1">
                <a:solidFill>
                  <a:srgbClr val="475569"/>
                </a:solidFill>
                <a:latin typeface="Arial"/>
              </a:defRPr>
            </a:pPr>
            <a:r>
              <a:t>100% bài test tự động vượt qua, tích hợp CI/CD và sẵn sàng triển khai Docker</a:t>
            </a:r>
          </a:p>
        </p:txBody>
      </p:sp>
      <p:sp>
        <p:nvSpPr>
          <p:cNvPr id="4" name="Rounded Rectangle 3"/>
          <p:cNvSpPr/>
          <p:nvPr/>
        </p:nvSpPr>
        <p:spPr>
          <a:xfrm>
            <a:off x="731520" y="1463040"/>
            <a:ext cx="32918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3291840" cy="2011680"/>
          </a:xfrm>
          <a:prstGeom prst="rect">
            <a:avLst/>
          </a:prstGeom>
          <a:noFill/>
        </p:spPr>
        <p:txBody>
          <a:bodyPr wrap="square" anchor="ctr">
            <a:spAutoFit/>
          </a:bodyPr>
          <a:lstStyle/>
          <a:p>
            <a:pPr algn="ctr">
              <a:defRPr sz="2400" b="1">
                <a:solidFill>
                  <a:srgbClr val="10B981"/>
                </a:solidFill>
                <a:latin typeface="Arial"/>
              </a:defRPr>
            </a:pPr>
            <a:r>
              <a:t>42 / 42</a:t>
            </a:r>
          </a:p>
          <a:p>
            <a:pPr algn="ctr">
              <a:defRPr sz="1000">
                <a:solidFill>
                  <a:srgbClr val="475569"/>
                </a:solidFill>
                <a:latin typeface="Arial"/>
              </a:defRPr>
            </a:pPr>
            <a:r>
              <a:t>Bài test Pytest PASS (100%)</a:t>
            </a:r>
            <a:br/>
            <a:r>
              <a:t>Bao phủ Auth, WS, DSP, RBAC</a:t>
            </a:r>
          </a:p>
        </p:txBody>
      </p:sp>
      <p:sp>
        <p:nvSpPr>
          <p:cNvPr id="6" name="Rounded Rectangle 5"/>
          <p:cNvSpPr/>
          <p:nvPr/>
        </p:nvSpPr>
        <p:spPr>
          <a:xfrm>
            <a:off x="4389120" y="1463040"/>
            <a:ext cx="32918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0" y="1463040"/>
            <a:ext cx="3291840" cy="2011680"/>
          </a:xfrm>
          <a:prstGeom prst="rect">
            <a:avLst/>
          </a:prstGeom>
          <a:noFill/>
        </p:spPr>
        <p:txBody>
          <a:bodyPr wrap="square" anchor="ctr">
            <a:spAutoFit/>
          </a:bodyPr>
          <a:lstStyle/>
          <a:p>
            <a:pPr algn="ctr">
              <a:defRPr sz="2400" b="1">
                <a:solidFill>
                  <a:srgbClr val="2563EB"/>
                </a:solidFill>
                <a:latin typeface="Arial"/>
              </a:defRPr>
            </a:pPr>
            <a:r>
              <a:t>0 Cảnh Báo</a:t>
            </a:r>
          </a:p>
          <a:p>
            <a:pPr algn="ctr">
              <a:defRPr sz="1000">
                <a:solidFill>
                  <a:srgbClr val="475569"/>
                </a:solidFill>
                <a:latin typeface="Arial"/>
              </a:defRPr>
            </a:pPr>
            <a:r>
              <a:t>Lint sạch hoàn toàn</a:t>
            </a:r>
            <a:br/>
            <a:r>
              <a:t>Ruff (Python) &amp; Oxlint (React)</a:t>
            </a:r>
          </a:p>
        </p:txBody>
      </p:sp>
      <p:sp>
        <p:nvSpPr>
          <p:cNvPr id="8" name="Rounded Rectangle 7"/>
          <p:cNvSpPr/>
          <p:nvPr/>
        </p:nvSpPr>
        <p:spPr>
          <a:xfrm>
            <a:off x="8046720" y="146304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463040"/>
            <a:ext cx="3383280" cy="2011680"/>
          </a:xfrm>
          <a:prstGeom prst="rect">
            <a:avLst/>
          </a:prstGeom>
          <a:noFill/>
        </p:spPr>
        <p:txBody>
          <a:bodyPr wrap="square" anchor="ctr">
            <a:spAutoFit/>
          </a:bodyPr>
          <a:lstStyle/>
          <a:p>
            <a:pPr algn="ctr">
              <a:defRPr sz="2400" b="1">
                <a:solidFill>
                  <a:srgbClr val="1E3A8A"/>
                </a:solidFill>
                <a:latin typeface="Arial"/>
              </a:defRPr>
            </a:pPr>
            <a:r>
              <a:t>2 Containers</a:t>
            </a:r>
          </a:p>
          <a:p>
            <a:pPr algn="ctr">
              <a:defRPr sz="1000">
                <a:solidFill>
                  <a:srgbClr val="475569"/>
                </a:solidFill>
                <a:latin typeface="Arial"/>
              </a:defRPr>
            </a:pPr>
            <a:r>
              <a:t>Docker Compose sẵn sàng</a:t>
            </a:r>
            <a:br/>
            <a:r>
              <a:t>FastAPI + Nginx Reverse Proxy</a:t>
            </a:r>
          </a:p>
        </p:txBody>
      </p:sp>
      <p:sp>
        <p:nvSpPr>
          <p:cNvPr id="10" name="Rounded Rectangle 9"/>
          <p:cNvSpPr/>
          <p:nvPr/>
        </p:nvSpPr>
        <p:spPr>
          <a:xfrm>
            <a:off x="731520" y="3749039"/>
            <a:ext cx="1069848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931920"/>
            <a:ext cx="10149840" cy="2103120"/>
          </a:xfrm>
          <a:prstGeom prst="rect">
            <a:avLst/>
          </a:prstGeom>
          <a:noFill/>
        </p:spPr>
        <p:txBody>
          <a:bodyPr wrap="square">
            <a:spAutoFit/>
          </a:bodyPr>
          <a:lstStyle/>
          <a:p>
            <a:pPr>
              <a:lnSpc>
                <a:spcPct val="125000"/>
              </a:lnSpc>
              <a:spcAft>
                <a:spcPts val="600"/>
              </a:spcAft>
              <a:defRPr b="1" sz="1200">
                <a:solidFill>
                  <a:srgbClr val="0F172A"/>
                </a:solidFill>
              </a:defRPr>
            </a:pPr>
            <a:r>
              <a:t>QUY TRÌNH CI/CD &amp; KIỂM SOÁT CHẤT LƯỢNG SẢN XUẤT</a:t>
            </a:r>
            <a:r>
              <a:rPr sz="1050" b="1">
                <a:solidFill>
                  <a:srgbClr val="0F172A"/>
                </a:solidFill>
                <a:latin typeface="Arial"/>
              </a:rPr>
              <a:t>GitHub Actions CI/CD Tự động hóa: </a:t>
            </a:r>
            <a:r>
              <a:rPr sz="1050">
                <a:solidFill>
                  <a:srgbClr val="475569"/>
                </a:solidFill>
                <a:latin typeface="Arial"/>
              </a:rPr>
              <a:t>5 jobs tự động chạy trên mỗi commit: lint-backend, lint-frontend, test-backend, test-frontend, build-docker.</a:t>
            </a:r>
          </a:p>
          <a:p>
            <a:pPr>
              <a:lnSpc>
                <a:spcPct val="125000"/>
              </a:lnSpc>
              <a:spcAft>
                <a:spcPts val="600"/>
              </a:spcAft>
            </a:pPr>
            <a:r>
              <a:rPr sz="1050" b="1">
                <a:solidFill>
                  <a:srgbClr val="0F172A"/>
                </a:solidFill>
                <a:latin typeface="Arial"/>
              </a:rPr>
              <a:t>Kiểm thử hồi quy toàn diện: </a:t>
            </a:r>
            <a:r>
              <a:rPr sz="1050">
                <a:solidFill>
                  <a:srgbClr val="475569"/>
                </a:solidFill>
                <a:latin typeface="Arial"/>
              </a:rPr>
              <a:t>Kiểm tra tự động luồng xác thực JWT, tính đúng đắn của giải thuật Pan-Tompkins, độ trễ WebSocket và logic ghi đè Audit Trail.</a:t>
            </a:r>
          </a:p>
          <a:p>
            <a:pPr>
              <a:lnSpc>
                <a:spcPct val="125000"/>
              </a:lnSpc>
              <a:spcAft>
                <a:spcPts val="600"/>
              </a:spcAft>
            </a:pPr>
            <a:r>
              <a:rPr sz="1050" b="1">
                <a:solidFill>
                  <a:srgbClr val="0F172A"/>
                </a:solidFill>
                <a:latin typeface="Arial"/>
              </a:rPr>
              <a:t>Triển khai linh hoạt: </a:t>
            </a:r>
            <a:r>
              <a:rPr sz="1050">
                <a:solidFill>
                  <a:srgbClr val="475569"/>
                </a:solidFill>
                <a:latin typeface="Arial"/>
              </a:rPr>
              <a:t>Chạy trực tiếp trên mạng cục bộ LAN phòng khám hoặc đóng gói qua Docker Compose chỉ với 1 câu lệnh.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3: RESULTS &amp; DEMONSTRATION</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3.5. Kịch Bản Trình Diễn Hệ Thống Trực Tiếp (Live Demo)</a:t>
            </a:r>
          </a:p>
          <a:p>
            <a:pPr>
              <a:defRPr sz="1100" i="1">
                <a:solidFill>
                  <a:srgbClr val="475569"/>
                </a:solidFill>
                <a:latin typeface="Arial"/>
              </a:defRPr>
            </a:pPr>
            <a:r>
              <a:t>5 pha trình diễn thực tế trên máy chủ kiểm chứng trọn vẹn các tính năng hệ thống</a:t>
            </a:r>
          </a:p>
        </p:txBody>
      </p:sp>
      <p:sp>
        <p:nvSpPr>
          <p:cNvPr id="4" name="Rounded Rectangle 3"/>
          <p:cNvSpPr/>
          <p:nvPr/>
        </p:nvSpPr>
        <p:spPr>
          <a:xfrm>
            <a:off x="731520" y="146304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572768"/>
            <a:ext cx="292608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PHA 1: STREAMING 360Hz</a:t>
            </a:r>
          </a:p>
        </p:txBody>
      </p:sp>
      <p:sp>
        <p:nvSpPr>
          <p:cNvPr id="6" name="TextBox 5"/>
          <p:cNvSpPr txBox="1"/>
          <p:nvPr/>
        </p:nvSpPr>
        <p:spPr>
          <a:xfrm>
            <a:off x="3931920" y="1536192"/>
            <a:ext cx="7315200" cy="731520"/>
          </a:xfrm>
          <a:prstGeom prst="rect">
            <a:avLst/>
          </a:prstGeom>
          <a:noFill/>
        </p:spPr>
        <p:txBody>
          <a:bodyPr wrap="square">
            <a:spAutoFit/>
          </a:bodyPr>
          <a:lstStyle/>
          <a:p>
            <a:pPr>
              <a:defRPr sz="1050">
                <a:solidFill>
                  <a:srgbClr val="0F172A"/>
                </a:solidFill>
              </a:defRPr>
            </a:pPr>
            <a:r>
              <a:t>Phát Record 100 nhịp bình thường (Xanh) -&gt; Chuyển Record 200 xuất hiện PVC, AI tức thì cảnh báo Đỏ (Confidence &gt; 95%).</a:t>
            </a:r>
          </a:p>
        </p:txBody>
      </p:sp>
      <p:sp>
        <p:nvSpPr>
          <p:cNvPr id="7" name="Rounded Rectangle 6"/>
          <p:cNvSpPr/>
          <p:nvPr/>
        </p:nvSpPr>
        <p:spPr>
          <a:xfrm>
            <a:off x="731520" y="242316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532888"/>
            <a:ext cx="2926080" cy="6400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PHA 2: BÁO ĐỘNG IEC 60601-1-8</a:t>
            </a:r>
          </a:p>
        </p:txBody>
      </p:sp>
      <p:sp>
        <p:nvSpPr>
          <p:cNvPr id="9" name="TextBox 8"/>
          <p:cNvSpPr txBox="1"/>
          <p:nvPr/>
        </p:nvSpPr>
        <p:spPr>
          <a:xfrm>
            <a:off x="3931920" y="2496312"/>
            <a:ext cx="7315200" cy="731520"/>
          </a:xfrm>
          <a:prstGeom prst="rect">
            <a:avLst/>
          </a:prstGeom>
          <a:noFill/>
        </p:spPr>
        <p:txBody>
          <a:bodyPr wrap="square">
            <a:spAutoFit/>
          </a:bodyPr>
          <a:lstStyle/>
          <a:p>
            <a:pPr>
              <a:defRPr sz="1050">
                <a:solidFill>
                  <a:srgbClr val="0F172A"/>
                </a:solidFill>
              </a:defRPr>
            </a:pPr>
            <a:r>
              <a:t>Kích hoạt chuông cảnh báo âm thanh và đèn chớp đỏ khi gặp chuỗi PVC -&gt; Thao tác bấm nút 'Tắt chuông 2 phút'.</a:t>
            </a:r>
          </a:p>
        </p:txBody>
      </p:sp>
      <p:sp>
        <p:nvSpPr>
          <p:cNvPr id="10" name="Rounded Rectangle 9"/>
          <p:cNvSpPr/>
          <p:nvPr/>
        </p:nvSpPr>
        <p:spPr>
          <a:xfrm>
            <a:off x="731520" y="338328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3493008"/>
            <a:ext cx="292608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PHA 3: EXPLAINABLE AI 1D GRAD-CAM</a:t>
            </a:r>
          </a:p>
        </p:txBody>
      </p:sp>
      <p:sp>
        <p:nvSpPr>
          <p:cNvPr id="12" name="TextBox 11"/>
          <p:cNvSpPr txBox="1"/>
          <p:nvPr/>
        </p:nvSpPr>
        <p:spPr>
          <a:xfrm>
            <a:off x="3931920" y="3456432"/>
            <a:ext cx="7315200" cy="731520"/>
          </a:xfrm>
          <a:prstGeom prst="rect">
            <a:avLst/>
          </a:prstGeom>
          <a:noFill/>
        </p:spPr>
        <p:txBody>
          <a:bodyPr wrap="square">
            <a:spAutoFit/>
          </a:bodyPr>
          <a:lstStyle/>
          <a:p>
            <a:pPr>
              <a:defRPr sz="1050">
                <a:solidFill>
                  <a:srgbClr val="0F172A"/>
                </a:solidFill>
              </a:defRPr>
            </a:pPr>
            <a:r>
              <a:t>Nhấp vào nhịp PVC trên đồ thị -&gt; Quan sát bản đồ nhiệt 1D Grad-CAM sáng rực tại phức bộ QRS giãn rộng.</a:t>
            </a:r>
          </a:p>
        </p:txBody>
      </p:sp>
      <p:sp>
        <p:nvSpPr>
          <p:cNvPr id="13" name="Rounded Rectangle 12"/>
          <p:cNvSpPr/>
          <p:nvPr/>
        </p:nvSpPr>
        <p:spPr>
          <a:xfrm>
            <a:off x="731520" y="434340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4453128"/>
            <a:ext cx="2926080" cy="6400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PHA 4: BÁC SĨ DUYỆT NHÃN &amp; XUẤT PDF</a:t>
            </a:r>
          </a:p>
        </p:txBody>
      </p:sp>
      <p:sp>
        <p:nvSpPr>
          <p:cNvPr id="15" name="TextBox 14"/>
          <p:cNvSpPr txBox="1"/>
          <p:nvPr/>
        </p:nvSpPr>
        <p:spPr>
          <a:xfrm>
            <a:off x="3931920" y="4416552"/>
            <a:ext cx="7315200" cy="731520"/>
          </a:xfrm>
          <a:prstGeom prst="rect">
            <a:avLst/>
          </a:prstGeom>
          <a:noFill/>
        </p:spPr>
        <p:txBody>
          <a:bodyPr wrap="square">
            <a:spAutoFit/>
          </a:bodyPr>
          <a:lstStyle/>
          <a:p>
            <a:pPr>
              <a:defRPr sz="1050">
                <a:solidFill>
                  <a:srgbClr val="0F172A"/>
                </a:solidFill>
              </a:defRPr>
            </a:pPr>
            <a:r>
              <a:t>Đăng nhập tài khoản Bác sĩ, thẩm định/sửa nhãn, kiểm tra Audit Trail và nhấn nút Xuất Báo cáo Bệnh án PDF hoàn chỉnh.</a:t>
            </a:r>
          </a:p>
        </p:txBody>
      </p:sp>
      <p:sp>
        <p:nvSpPr>
          <p:cNvPr id="16" name="Rounded Rectangle 15"/>
          <p:cNvSpPr/>
          <p:nvPr/>
        </p:nvSpPr>
        <p:spPr>
          <a:xfrm>
            <a:off x="731520" y="530352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5413248"/>
            <a:ext cx="292608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PHA 5: CHẨN ĐOÁN OFFLINE &amp; EDGE ONNX</a:t>
            </a:r>
          </a:p>
        </p:txBody>
      </p:sp>
      <p:sp>
        <p:nvSpPr>
          <p:cNvPr id="18" name="TextBox 17"/>
          <p:cNvSpPr txBox="1"/>
          <p:nvPr/>
        </p:nvSpPr>
        <p:spPr>
          <a:xfrm>
            <a:off x="3931920" y="5376672"/>
            <a:ext cx="7315200" cy="731520"/>
          </a:xfrm>
          <a:prstGeom prst="rect">
            <a:avLst/>
          </a:prstGeom>
          <a:noFill/>
        </p:spPr>
        <p:txBody>
          <a:bodyPr wrap="square">
            <a:spAutoFit/>
          </a:bodyPr>
          <a:lstStyle/>
          <a:p>
            <a:pPr>
              <a:defRPr sz="1050">
                <a:solidFill>
                  <a:srgbClr val="0F172A"/>
                </a:solidFill>
              </a:defRPr>
            </a:pPr>
            <a:r>
              <a:t>Tải tệp CSV ngoài phân tích trọn vẹn bản ghi trong vài giây; kiểm tra mô hình nhúng ONNX INT8 dung lượng 697.3 KB.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4: PROJECTED IMPACT</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4.1. Những Thành Tựu Cốt Lõi &amp; Tác Động Thực Tiễn</a:t>
            </a:r>
          </a:p>
          <a:p>
            <a:pPr>
              <a:defRPr sz="1100" i="1">
                <a:solidFill>
                  <a:srgbClr val="475569"/>
                </a:solidFill>
                <a:latin typeface="Arial"/>
              </a:defRPr>
            </a:pPr>
            <a:r>
              <a:t>Đóng góp thiết thực cho phòng cấp cứu, thiết bị đeo Holter thông minh và nghiên cứu y sinh</a:t>
            </a:r>
          </a:p>
        </p:txBody>
      </p:sp>
      <p:sp>
        <p:nvSpPr>
          <p:cNvPr id="4" name="Rounded Rectangle 3"/>
          <p:cNvSpPr/>
          <p:nvPr/>
        </p:nvSpPr>
        <p:spPr>
          <a:xfrm>
            <a:off x="7315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38328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3017520" cy="3931920"/>
          </a:xfrm>
          <a:prstGeom prst="rect">
            <a:avLst/>
          </a:prstGeom>
          <a:noFill/>
        </p:spPr>
        <p:txBody>
          <a:bodyPr wrap="square">
            <a:spAutoFit/>
          </a:bodyPr>
          <a:lstStyle/>
          <a:p>
            <a:pPr>
              <a:spcAft>
                <a:spcPts val="1200"/>
              </a:spcAft>
              <a:defRPr b="1" sz="1200">
                <a:solidFill>
                  <a:srgbClr val="1E3A8A"/>
                </a:solidFill>
              </a:defRPr>
            </a:pPr>
            <a:r>
              <a:t>PHÒNG HỒI SỨC CẤP CỨU</a:t>
            </a:r>
          </a:p>
          <a:p>
            <a:pPr>
              <a:lnSpc>
                <a:spcPct val="135000"/>
              </a:lnSpc>
              <a:defRPr sz="1050">
                <a:solidFill>
                  <a:srgbClr val="0F172A"/>
                </a:solidFill>
              </a:defRPr>
            </a:pPr>
            <a:r>
              <a:t>• Giảm tải áp lực theo dõi thủ công cho bác sĩ trực.</a:t>
            </a:r>
            <a:br/>
            <a:r>
              <a:t>• Phát hiện sớm nhịp ngoại tâm thu thất và rung thất nguy hiểm.</a:t>
            </a:r>
            <a:br/>
            <a:r>
              <a:t>• XAI Grad-CAM minh bạch hóa căn cứ hỗ trợ bác sĩ ra quyết định nhanh chóng.</a:t>
            </a:r>
          </a:p>
        </p:txBody>
      </p:sp>
      <p:sp>
        <p:nvSpPr>
          <p:cNvPr id="7" name="Rounded Rectangle 6"/>
          <p:cNvSpPr/>
          <p:nvPr/>
        </p:nvSpPr>
        <p:spPr>
          <a:xfrm>
            <a:off x="43891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1645920"/>
            <a:ext cx="338328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20240"/>
            <a:ext cx="3017520" cy="3931920"/>
          </a:xfrm>
          <a:prstGeom prst="rect">
            <a:avLst/>
          </a:prstGeom>
          <a:noFill/>
        </p:spPr>
        <p:txBody>
          <a:bodyPr wrap="square">
            <a:spAutoFit/>
          </a:bodyPr>
          <a:lstStyle/>
          <a:p>
            <a:pPr>
              <a:spcAft>
                <a:spcPts val="1200"/>
              </a:spcAft>
              <a:defRPr b="1" sz="1200">
                <a:solidFill>
                  <a:srgbClr val="2563EB"/>
                </a:solidFill>
              </a:defRPr>
            </a:pPr>
            <a:r>
              <a:t>THIẾT BỊ ĐEO HOLTER IOT</a:t>
            </a:r>
          </a:p>
          <a:p>
            <a:pPr>
              <a:lnSpc>
                <a:spcPct val="135000"/>
              </a:lnSpc>
              <a:defRPr sz="1050">
                <a:solidFill>
                  <a:srgbClr val="0F172A"/>
                </a:solidFill>
              </a:defRPr>
            </a:pPr>
            <a:r>
              <a:t>• Mô hình ONNX INT8 nén 697 KB cho phép chạy Edge AI trực tiếp trên thiết bị đeo.</a:t>
            </a:r>
            <a:br/>
            <a:r>
              <a:t>• Phân loại nhịp tim tại chỗ không phụ thuộc vào đường truyền mạng Internet.</a:t>
            </a:r>
            <a:br/>
            <a:r>
              <a:t>• Chi phí sản xuất thấp, mở rộng tiếp cận Telehealth.</a:t>
            </a:r>
          </a:p>
        </p:txBody>
      </p:sp>
      <p:sp>
        <p:nvSpPr>
          <p:cNvPr id="10" name="Rounded Rectangle 9"/>
          <p:cNvSpPr/>
          <p:nvPr/>
        </p:nvSpPr>
        <p:spPr>
          <a:xfrm>
            <a:off x="80467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645920"/>
            <a:ext cx="338328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920240"/>
            <a:ext cx="3017520" cy="3931920"/>
          </a:xfrm>
          <a:prstGeom prst="rect">
            <a:avLst/>
          </a:prstGeom>
          <a:noFill/>
        </p:spPr>
        <p:txBody>
          <a:bodyPr wrap="square">
            <a:spAutoFit/>
          </a:bodyPr>
          <a:lstStyle/>
          <a:p>
            <a:pPr>
              <a:spcAft>
                <a:spcPts val="1200"/>
              </a:spcAft>
              <a:defRPr b="1" sz="1200">
                <a:solidFill>
                  <a:srgbClr val="10B981"/>
                </a:solidFill>
              </a:defRPr>
            </a:pPr>
            <a:r>
              <a:t>GIÁ TRỊ HỌC THUẬT &amp; CÔNG NGHỆ</a:t>
            </a:r>
          </a:p>
          <a:p>
            <a:pPr>
              <a:lnSpc>
                <a:spcPct val="135000"/>
              </a:lnSpc>
              <a:defRPr sz="1050">
                <a:solidFill>
                  <a:srgbClr val="0F172A"/>
                </a:solidFill>
              </a:defRPr>
            </a:pPr>
            <a:r>
              <a:t>• Tạo lập bộ benchmark thực nghiệm chuẩn mực cho 5 kiến trúc Deep Learning 1D.</a:t>
            </a:r>
            <a:br/>
            <a:r>
              <a:t>• Tiên phong ứng dụng 1D Grad-CAM cho chuỗi thời gian y tế.</a:t>
            </a:r>
            <a:br/>
            <a:r>
              <a:t>• Khung kiến trúc Full-Stack y tế hoàn chỉnh đạt chuẩn IEC 60601-1-8.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4: PROJECTED IMPACT</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4.2. Đánh Giá Giới Hạn Kỹ Thuật &amp; Nguyên Nhân Khoa Học</a:t>
            </a:r>
          </a:p>
          <a:p>
            <a:pPr>
              <a:defRPr sz="1100" i="1">
                <a:solidFill>
                  <a:srgbClr val="475569"/>
                </a:solidFill>
                <a:latin typeface="Arial"/>
              </a:defRPr>
            </a:pPr>
            <a:r>
              <a:t>Báo cáo trung thực hiện tượng suy giảm độ nhạy trên dữ liệu ngoài (Domain Shift) và định hướng</a:t>
            </a:r>
          </a:p>
        </p:txBody>
      </p:sp>
      <p:pic>
        <p:nvPicPr>
          <p:cNvPr id="4" name="Picture 3" descr="09_cross_database_generalization.png"/>
          <p:cNvPicPr>
            <a:picLocks noChangeAspect="1"/>
          </p:cNvPicPr>
          <p:nvPr/>
        </p:nvPicPr>
        <p:blipFill>
          <a:blip r:embed="rId2"/>
          <a:stretch>
            <a:fillRect/>
          </a:stretch>
        </p:blipFill>
        <p:spPr>
          <a:xfrm>
            <a:off x="731520" y="1463040"/>
            <a:ext cx="5486400" cy="1786297"/>
          </a:xfrm>
          <a:prstGeom prst="rect">
            <a:avLst/>
          </a:prstGeom>
        </p:spPr>
      </p:pic>
      <p:sp>
        <p:nvSpPr>
          <p:cNvPr id="5" name="Rounded Rectangle 4"/>
          <p:cNvSpPr/>
          <p:nvPr/>
        </p:nvSpPr>
        <p:spPr>
          <a:xfrm>
            <a:off x="6400800" y="1463040"/>
            <a:ext cx="5029200" cy="475488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645920"/>
            <a:ext cx="4663440" cy="4389120"/>
          </a:xfrm>
          <a:prstGeom prst="rect">
            <a:avLst/>
          </a:prstGeom>
          <a:noFill/>
        </p:spPr>
        <p:txBody>
          <a:bodyPr wrap="square">
            <a:spAutoFit/>
          </a:bodyPr>
          <a:lstStyle/>
          <a:p>
            <a:pPr>
              <a:lnSpc>
                <a:spcPct val="125000"/>
              </a:lnSpc>
              <a:spcAft>
                <a:spcPts val="600"/>
              </a:spcAft>
              <a:defRPr b="1" sz="1200">
                <a:solidFill>
                  <a:srgbClr val="EF4444"/>
                </a:solidFill>
              </a:defRPr>
            </a:pPr>
            <a:r>
              <a:t>4 HẠN CHẾ KỸ THUẬT &amp; ĐỊNH HƯỚNG CẦN HỖ TRỢ</a:t>
            </a:r>
            <a:r>
              <a:rPr sz="1000" b="1">
                <a:solidFill>
                  <a:srgbClr val="0F172A"/>
                </a:solidFill>
                <a:latin typeface="Arial"/>
              </a:rPr>
              <a:t>1. Domain Shift ở lớp hiếm (S/F): </a:t>
            </a:r>
            <a:r>
              <a:rPr sz="1000">
                <a:solidFill>
                  <a:srgbClr val="475569"/>
                </a:solidFill>
                <a:latin typeface="Arial"/>
              </a:rPr>
              <a:t>Lớp N và V giữ độ nhạy tốt (78-94%), nhưng lớp S và F bị sụt giảm Recall trên INCART, SVDB, EDB do sai lệch vị trí đạo trình đo và số mẫu gốc quá ít. Đã fine-tune nâng lên 93.18%; giải pháp lâu dài là train đa nguồn.</a:t>
            </a:r>
          </a:p>
          <a:p>
            <a:pPr>
              <a:lnSpc>
                <a:spcPct val="125000"/>
              </a:lnSpc>
              <a:spcAft>
                <a:spcPts val="600"/>
              </a:spcAft>
            </a:pPr>
            <a:r>
              <a:rPr sz="1000" b="1">
                <a:solidFill>
                  <a:srgbClr val="0F172A"/>
                </a:solidFill>
                <a:latin typeface="Arial"/>
              </a:rPr>
              <a:t>2. Ngưỡng quy tắc Rung nhĩ (0.62): </a:t>
            </a:r>
            <a:r>
              <a:rPr sz="1000">
                <a:solidFill>
                  <a:srgbClr val="475569"/>
                </a:solidFill>
                <a:latin typeface="Arial"/>
              </a:rPr>
              <a:t>Được chọn theo thực nghiệm trên MIT-BIH; cần kiểm chứng thống kê mù trên toàn bộ tập PhysioNet AFDB.</a:t>
            </a:r>
          </a:p>
          <a:p>
            <a:pPr>
              <a:lnSpc>
                <a:spcPct val="125000"/>
              </a:lnSpc>
              <a:spcAft>
                <a:spcPts val="600"/>
              </a:spcAft>
            </a:pPr>
            <a:r>
              <a:rPr sz="1000" b="1">
                <a:solidFill>
                  <a:srgbClr val="0F172A"/>
                </a:solidFill>
                <a:latin typeface="Arial"/>
              </a:rPr>
              <a:t>3. Cảm biến phần cứng IoT: </a:t>
            </a:r>
            <a:r>
              <a:rPr sz="1000">
                <a:solidFill>
                  <a:srgbClr val="475569"/>
                </a:solidFill>
                <a:latin typeface="Arial"/>
              </a:rPr>
              <a:t>Hiện chạy qua giả lập WebSocket 360Hz; chưa hàn nối tiếp mạch cảm biến AD8232/MAX30003 + ESP32.</a:t>
            </a:r>
          </a:p>
          <a:p>
            <a:pPr>
              <a:lnSpc>
                <a:spcPct val="125000"/>
              </a:lnSpc>
              <a:spcAft>
                <a:spcPts val="600"/>
              </a:spcAft>
            </a:pPr>
            <a:r>
              <a:rPr sz="1000" b="1">
                <a:solidFill>
                  <a:srgbClr val="0F172A"/>
                </a:solidFill>
                <a:latin typeface="Arial"/>
              </a:rPr>
              <a:t>4. Thử nghiệm lâm sàng: </a:t>
            </a:r>
            <a:r>
              <a:rPr sz="1000">
                <a:solidFill>
                  <a:srgbClr val="475569"/>
                </a:solidFill>
                <a:latin typeface="Arial"/>
              </a:rPr>
              <a:t>Chưa triển khai thử nghiệm mù đôi trực tiếp tại bệnh viện.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3200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Arial"/>
              </a:defRPr>
            </a:pPr>
            <a:r>
              <a:t>UNIT 5: TEAM REVIEW</a:t>
            </a:r>
          </a:p>
        </p:txBody>
      </p:sp>
      <p:sp>
        <p:nvSpPr>
          <p:cNvPr id="3" name="TextBox 2"/>
          <p:cNvSpPr txBox="1"/>
          <p:nvPr/>
        </p:nvSpPr>
        <p:spPr>
          <a:xfrm>
            <a:off x="731520" y="731520"/>
            <a:ext cx="10698480" cy="502920"/>
          </a:xfrm>
          <a:prstGeom prst="rect">
            <a:avLst/>
          </a:prstGeom>
          <a:noFill/>
        </p:spPr>
        <p:txBody>
          <a:bodyPr wrap="square" tIns="0" bIns="0" lIns="0" rIns="0">
            <a:spAutoFit/>
          </a:bodyPr>
          <a:lstStyle/>
          <a:p>
            <a:pPr>
              <a:defRPr sz="2000" b="1">
                <a:solidFill>
                  <a:srgbClr val="0F172A"/>
                </a:solidFill>
                <a:latin typeface="Arial"/>
              </a:defRPr>
            </a:pPr>
            <a:r>
              <a:t>5.1. Tự Đánh Giá Nhóm &amp; Lộ Trình Phát Triển Tương Lai</a:t>
            </a:r>
          </a:p>
          <a:p>
            <a:pPr>
              <a:defRPr sz="1100" i="1">
                <a:solidFill>
                  <a:srgbClr val="475569"/>
                </a:solidFill>
                <a:latin typeface="Arial"/>
              </a:defRPr>
            </a:pPr>
            <a:r>
              <a:t>Thu hoạch năng lực thực chiến và kế hoạch thương mại hóa thiết bị y tế</a:t>
            </a:r>
          </a:p>
        </p:txBody>
      </p:sp>
      <p:sp>
        <p:nvSpPr>
          <p:cNvPr id="4" name="Rounded Rectangle 3"/>
          <p:cNvSpPr/>
          <p:nvPr/>
        </p:nvSpPr>
        <p:spPr>
          <a:xfrm>
            <a:off x="731520" y="1463040"/>
            <a:ext cx="5120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754880" cy="1737360"/>
          </a:xfrm>
          <a:prstGeom prst="rect">
            <a:avLst/>
          </a:prstGeom>
          <a:noFill/>
        </p:spPr>
        <p:txBody>
          <a:bodyPr wrap="square">
            <a:spAutoFit/>
          </a:bodyPr>
          <a:lstStyle/>
          <a:p>
            <a:pPr>
              <a:defRPr b="1" sz="1100">
                <a:solidFill>
                  <a:srgbClr val="1E3A8A"/>
                </a:solidFill>
              </a:defRPr>
            </a:pPr>
            <a:r>
              <a:t>NGUYỄN ĐÀO NAM HẢI — Thu hoạch cá nhân</a:t>
            </a:r>
          </a:p>
          <a:p>
            <a:pPr>
              <a:spcBef>
                <a:spcPts val="400"/>
              </a:spcBef>
              <a:defRPr sz="950" i="1">
                <a:solidFill>
                  <a:srgbClr val="0F172A"/>
                </a:solidFill>
              </a:defRPr>
            </a:pPr>
            <a:r>
              <a:t>"Làm chủ trọn vẹn từ nghiên cứu giải thuật Deep Learning 1D, kỹ thuật XAI Grad-CAM, tối ưu lượng tử hóa nhúng ONNX INT8 đến hạ tầng truyền phát thời gian thực WebSocket 360Hz phục vụ sản phẩm hoàn chỉnh."</a:t>
            </a:r>
          </a:p>
        </p:txBody>
      </p:sp>
      <p:sp>
        <p:nvSpPr>
          <p:cNvPr id="6" name="Rounded Rectangle 5"/>
          <p:cNvSpPr/>
          <p:nvPr/>
        </p:nvSpPr>
        <p:spPr>
          <a:xfrm>
            <a:off x="6217920" y="146304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1737360"/>
          </a:xfrm>
          <a:prstGeom prst="rect">
            <a:avLst/>
          </a:prstGeom>
          <a:noFill/>
        </p:spPr>
        <p:txBody>
          <a:bodyPr wrap="square">
            <a:spAutoFit/>
          </a:bodyPr>
          <a:lstStyle/>
          <a:p>
            <a:pPr>
              <a:defRPr b="1" sz="1100">
                <a:solidFill>
                  <a:srgbClr val="2563EB"/>
                </a:solidFill>
              </a:defRPr>
            </a:pPr>
            <a:r>
              <a:t>PHAN THỊ HẢI YẾN — Thu hoạch cá nhân</a:t>
            </a:r>
          </a:p>
          <a:p>
            <a:pPr>
              <a:spcBef>
                <a:spcPts val="400"/>
              </a:spcBef>
              <a:defRPr sz="950" i="1">
                <a:solidFill>
                  <a:srgbClr val="0F172A"/>
                </a:solidFill>
              </a:defRPr>
            </a:pPr>
            <a:r>
              <a:t>"Nắm vững các phương pháp xử lý tín hiệu số y sinh, thấu hiểu sâu sắc bài học khắc phục rò rỉ dữ liệu trong Machine Learning thực chiến và quy trình kiểm định chất lượng phần mềm theo tiêu chuẩn y tế quốc tế."</a:t>
            </a:r>
          </a:p>
        </p:txBody>
      </p:sp>
      <p:sp>
        <p:nvSpPr>
          <p:cNvPr id="8" name="Rounded Rectangle 7"/>
          <p:cNvSpPr/>
          <p:nvPr/>
        </p:nvSpPr>
        <p:spPr>
          <a:xfrm>
            <a:off x="731520" y="3657600"/>
            <a:ext cx="106984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840480"/>
            <a:ext cx="10149840" cy="2194560"/>
          </a:xfrm>
          <a:prstGeom prst="rect">
            <a:avLst/>
          </a:prstGeom>
          <a:noFill/>
        </p:spPr>
        <p:txBody>
          <a:bodyPr wrap="square">
            <a:spAutoFit/>
          </a:bodyPr>
          <a:lstStyle/>
          <a:p>
            <a:pPr>
              <a:lnSpc>
                <a:spcPct val="125000"/>
              </a:lnSpc>
              <a:spcAft>
                <a:spcPts val="600"/>
              </a:spcAft>
              <a:defRPr b="1" sz="1200">
                <a:solidFill>
                  <a:srgbClr val="0F172A"/>
                </a:solidFill>
              </a:defRPr>
            </a:pPr>
            <a:r>
              <a:t>LỘ TRÌNH 3 GIAI ĐOẠN HƯỚNG TỚI THƯƠNG MẠI HÓA</a:t>
            </a:r>
            <a:r>
              <a:rPr sz="1050" b="1">
                <a:solidFill>
                  <a:srgbClr val="0F172A"/>
                </a:solidFill>
                <a:latin typeface="Arial"/>
              </a:rPr>
              <a:t>Giai đoạn 1 (Hiện tại - Đã xong): </a:t>
            </a:r>
            <a:r>
              <a:rPr sz="1050">
                <a:solidFill>
                  <a:srgbClr val="475569"/>
                </a:solidFill>
                <a:latin typeface="Arial"/>
              </a:rPr>
              <a:t>Hoàn thành 100% hệ thống phần mềm Full-Stack, AI Core ResNet-1D, 1D Grad-CAM, ONNX INT8.</a:t>
            </a:r>
          </a:p>
          <a:p>
            <a:pPr>
              <a:lnSpc>
                <a:spcPct val="125000"/>
              </a:lnSpc>
              <a:spcAft>
                <a:spcPts val="600"/>
              </a:spcAft>
            </a:pPr>
            <a:r>
              <a:rPr sz="1050" b="1">
                <a:solidFill>
                  <a:srgbClr val="0F172A"/>
                </a:solidFill>
                <a:latin typeface="Arial"/>
              </a:rPr>
              <a:t>Giai đoạn 2 (Tiếp theo): </a:t>
            </a:r>
            <a:r>
              <a:rPr sz="1050">
                <a:solidFill>
                  <a:srgbClr val="475569"/>
                </a:solidFill>
                <a:latin typeface="Arial"/>
              </a:rPr>
              <a:t>Tích hợp phần cứng cảm biến AD8232 / MAX30003 + vi điều khiển ESP32 gửi dữ liệu qua WiFi/MQTT và kiểm định ngưỡng AFDB.</a:t>
            </a:r>
          </a:p>
          <a:p>
            <a:pPr>
              <a:lnSpc>
                <a:spcPct val="125000"/>
              </a:lnSpc>
              <a:spcAft>
                <a:spcPts val="600"/>
              </a:spcAft>
            </a:pPr>
            <a:r>
              <a:rPr sz="1050" b="1">
                <a:solidFill>
                  <a:srgbClr val="0F172A"/>
                </a:solidFill>
                <a:latin typeface="Arial"/>
              </a:rPr>
              <a:t>Giai đoạn 3 (Ứng dụng thực địa): </a:t>
            </a:r>
            <a:r>
              <a:rPr sz="1050">
                <a:solidFill>
                  <a:srgbClr val="475569"/>
                </a:solidFill>
                <a:latin typeface="Arial"/>
              </a:rPr>
              <a:t>Thử nghiệm lâm sàng tại các khoa Tim mạch bệnh viện, tiến tới chứng nhận chuẩn thiết bị y tế SaMD.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TextBox 1"/>
          <p:cNvSpPr txBox="1"/>
          <p:nvPr/>
        </p:nvSpPr>
        <p:spPr>
          <a:xfrm>
            <a:off x="1097280" y="1097280"/>
            <a:ext cx="9966960" cy="4572000"/>
          </a:xfrm>
          <a:prstGeom prst="rect">
            <a:avLst/>
          </a:prstGeom>
          <a:noFill/>
        </p:spPr>
        <p:txBody>
          <a:bodyPr wrap="square">
            <a:spAutoFit/>
          </a:bodyPr>
          <a:lstStyle/>
          <a:p>
            <a:pPr>
              <a:spcAft>
                <a:spcPts val="1400"/>
              </a:spcAft>
              <a:defRPr sz="2400" b="1">
                <a:solidFill>
                  <a:srgbClr val="FFFFFF"/>
                </a:solidFill>
                <a:latin typeface="Arial"/>
              </a:defRPr>
            </a:pPr>
            <a:r>
              <a:t>KẾT LUẬN &amp; LỜI CẢM ƠN CHÂN THÀNH</a:t>
            </a:r>
          </a:p>
          <a:p>
            <a:pPr>
              <a:lnSpc>
                <a:spcPct val="130000"/>
              </a:lnSpc>
              <a:spcAft>
                <a:spcPts val="1800"/>
              </a:spcAft>
              <a:defRPr sz="1300">
                <a:solidFill>
                  <a:srgbClr val="E2E8F0"/>
                </a:solidFill>
                <a:latin typeface="Arial"/>
              </a:defRPr>
            </a:pPr>
            <a:r>
              <a:t>NEURO-ECG đã hoàn thành xuất sắc toàn bộ mục tiêu đề cương: Chính xác (98.57%), Siêu tốc (0.13ms), Minh bạch (1D Grad-CAM), Nhẹ cho Edge AI (ONNX 697KB), và An toàn pháp lý (Human-in-the-loop Audit Trail).</a:t>
            </a:r>
          </a:p>
          <a:p>
            <a:pPr>
              <a:lnSpc>
                <a:spcPct val="130000"/>
              </a:lnSpc>
              <a:spcAft>
                <a:spcPts val="2800"/>
              </a:spcAft>
              <a:defRPr sz="1200">
                <a:solidFill>
                  <a:srgbClr val="93C5FD"/>
                </a:solidFill>
                <a:latin typeface="Arial"/>
              </a:defRPr>
            </a:pPr>
            <a:r>
              <a:t>Nhóm xin bày tỏ lòng biết ơn sâu sắc tới Ban Giảng viên Chương trình Samsung Innovation Campus (SIC) 2026, các Thầy Cô giáo ĐH Bách Khoa Hà Nội và Tập đoàn Điện tử Samsung đã tận tình đào tạo và đồng hành!</a:t>
            </a:r>
          </a:p>
        </p:txBody>
      </p:sp>
      <p:sp>
        <p:nvSpPr>
          <p:cNvPr id="3" name="Rounded Rectangle 2"/>
          <p:cNvSpPr/>
          <p:nvPr/>
        </p:nvSpPr>
        <p:spPr>
          <a:xfrm>
            <a:off x="1097280" y="4114800"/>
            <a:ext cx="9966960" cy="164592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4297680"/>
            <a:ext cx="9418320" cy="1280160"/>
          </a:xfrm>
          <a:prstGeom prst="rect">
            <a:avLst/>
          </a:prstGeom>
          <a:noFill/>
        </p:spPr>
        <p:txBody>
          <a:bodyPr wrap="none">
            <a:spAutoFit/>
          </a:bodyPr>
          <a:lstStyle/>
          <a:p>
            <a:pPr algn="ctr">
              <a:defRPr sz="1600" b="1">
                <a:solidFill>
                  <a:srgbClr val="10B981"/>
                </a:solidFill>
                <a:latin typeface="Arial"/>
              </a:defRPr>
            </a:pPr>
            <a:r>
              <a:t>PHIÊN HỎI ĐÁP PHẢN BIỆN — Q &amp; A</a:t>
            </a:r>
          </a:p>
          <a:p>
            <a:pPr algn="ctr">
              <a:spcBef>
                <a:spcPts val="600"/>
              </a:spcBef>
              <a:defRPr sz="1200">
                <a:solidFill>
                  <a:srgbClr val="FFFFFF"/>
                </a:solidFill>
                <a:latin typeface="Arial"/>
              </a:defRPr>
            </a:pPr>
            <a:r>
              <a:t>Nhóm chúng em kính mời Hội đồng Giảng viên đặt câu hỏi và đóng góp ý kiến!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